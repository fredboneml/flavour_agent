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3946"/>
                </a:solidFill>
                <a:latin typeface="Helvetica Neue"/>
              </a:rPr>
              <a:t>01 / HINTERGRUND &amp; ZIEL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TAIsty: Schneller zur Erstrezeptur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Helvetica Neue"/>
              </a:rPr>
              <a:t>KI-gestutzte Aromaentwicklung — Ziel, Ansatz und Ausgangslage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13716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3946"/>
                </a:solidFill>
                <a:latin typeface="Helvetica Neue"/>
              </a:rPr>
              <a:t>DAS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Helvetica Neue"/>
              </a:rPr>
              <a:t>Die Entwicklung einer Erstrezeptur ist heute ein manueller, erfahrungsgetriebener Prozess. Jeder neue Kundenauftrag startet praktisch bei Null — ohne systematische Nutzung des vorhandenen Rezeptur-Wissens aus uber 130 historischen Erdbeere-Rezepturen.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A9D8F"/>
                </a:solidFill>
                <a:latin typeface="Helvetica Neue"/>
              </a:rPr>
              <a:t>DAS 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Helvetica Neue"/>
              </a:rPr>
              <a:t>TAIsty analysiert historische Rezepturen, erkennt sensorische Muster und leitet standardisierte Bausteine ab — validiert durch Flavoristen. Ziel: fundierte Erstrezeptur-Vorschlage auf Knopfdruck, deutlich kurgere Entwicklungszyklen.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783080"/>
            <a:ext cx="594360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1783080"/>
            <a:ext cx="59436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8745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A9D8F"/>
                </a:solidFill>
                <a:latin typeface="Helvetica Neue"/>
              </a:rPr>
              <a:t>UNSERE STRATEGIE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2386584"/>
            <a:ext cx="329184" cy="3291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23682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Historische Rezepturen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243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sensorisch clustern (7 Typen)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3191255"/>
            <a:ext cx="329184" cy="3291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172967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3639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Cluster-Fingerprints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2899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Welche Rohstoffe definieren jeden Typ?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3995927"/>
            <a:ext cx="329184" cy="3291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3977639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94106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Kundenbriefing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23367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KI schlagt Skelett + Bausteine vor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4800600"/>
            <a:ext cx="329184" cy="3291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478231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457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Flavorist validiert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0383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und verfeinert — weniger Iterationen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336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  <a:latin typeface="Helvetica Neue"/>
              </a:rPr>
              <a:t>FRÜCHTE IM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6336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946"/>
                </a:solidFill>
                <a:latin typeface="Helvetica Neue"/>
              </a:rPr>
              <a:t>  Erdbeere (aktiv)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336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9C46A"/>
                </a:solidFill>
                <a:latin typeface="Helvetica Neue"/>
              </a:rPr>
              <a:t>  Aprikose (gestartet)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6336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  Kirsche (geplant)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6336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  Schwarze Johannisbeere (geplant)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3367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  <a:latin typeface="Helvetica Neue"/>
              </a:rPr>
              <a:t>TAIsty / KI-gestutzte Aromaentwicklung / Stand: Juli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336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66"/>
                </a:solidFill>
                <a:latin typeface="Helvetica Neue"/>
              </a:rPr>
              <a:t>Vertraulich — Internes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3946"/>
                </a:solidFill>
                <a:latin typeface="Helvetica Neue"/>
              </a:rPr>
              <a:t>02 / VORGEHEN &amp; ERGEBNISSE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Helvetica Neue"/>
              </a:rPr>
              <a:t>Was wir getan haben — und was wir herausgefunden haben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47120" cy="13716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45720" cy="8686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075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Datenbasis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130 Erdbeere-Rezepturen aus dem PDM analysiert. Solvents/Carrier entfernt. Jede Rezeptur als CAS-Konzentrationsvektor kodiert.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45720" cy="86868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96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9 Clustering-Strategien verglichen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6 Zentroid-basierte Methoden (S1-S6) und 3 Direkt-Methoden (M1-M3). Zentroiden aus Expert-Vorgabe.xlsx — 7 sensorische Cluster definiert.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45720" cy="8686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850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Panel-Validierung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959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28 Rezepturen verblindet vor einem Sensorik-Panel (4 Panelisten). Beste Methoden (M1 + M2) erzielen 90% Ubereinstimmung mit Panel-Ground-Truth.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92040"/>
            <a:ext cx="45720" cy="8686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73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PCA pro 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8464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Fur jeden der 7 Cluster: Welche Rohstoffe sind die starksten Treiber? Ergebnis: klare Fingerprints — z.B. Furaneol + Maltol fur warm, cis-3-Hexenol fur green.</a:t>
            </a:r>
          </a:p>
        </p:txBody>
      </p:sp>
      <p:pic>
        <p:nvPicPr>
          <p:cNvPr id="18" name="Picture 17" descr="erdbeere_v3_panel_summary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34440"/>
            <a:ext cx="4206240" cy="4983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626364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Helvetica Neue"/>
              </a:rPr>
              <a:t>Panel-Auswertung: 28 Rezepturen, M1 / M2 / M2_kw vs. Panel-Ground-Truth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080760"/>
            <a:ext cx="5303520" cy="594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080760"/>
            <a:ext cx="45720" cy="5943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126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9D8F"/>
                </a:solidFill>
                <a:latin typeface="Helvetica Neue"/>
              </a:rPr>
              <a:t>KERNERGEBNIS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3367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Helvetica Neue"/>
              </a:rPr>
              <a:t>M1 + M2 klassifizieren 9 von 10 Rezepturen korrekt (90%). Das entspricht der praktischen Obergrenze — begrenzt durch Panel-Uneinigkeit bei Grenzfallen.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3367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  <a:latin typeface="Helvetica Neue"/>
              </a:rPr>
              <a:t>TAIsty / KI-gestutzte Aromaentwicklung / Stand: Juli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6336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66"/>
                </a:solidFill>
                <a:latin typeface="Helvetica Neue"/>
              </a:rPr>
              <a:t>Vertraulich — Internes Update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3946"/>
                </a:solidFill>
                <a:latin typeface="Helvetica Neue"/>
              </a:rPr>
              <a:t>03 / AKTUELLER STAND &amp; NACHSTE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Helvetica Neue"/>
              </a:rPr>
              <a:t>Was uns limitiert — und wie wir die Grenze uberwinden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47120" cy="13716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C46A"/>
                </a:solidFill>
                <a:latin typeface="Helvetica Neue"/>
              </a:rPr>
              <a:t>NEUER ANSATZ: MS SCORING (Melanie Scoring)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Helvetica Neue"/>
              </a:rPr>
              <a:t>Statt binarer Regelkaskade (M2) oder Graph-Diffusion (M1): kontinuierlicher gewichteter Score pro Cluster.
Formel:  Score[Cluster] = Summe(Gewicht[CAS][Cluster] x Normkonzentration[CAS])
Vorteil: graduelle Zugehorigkeit — Grenzfalle sichtbar, Rezepturen innerhalb eines Clusters rankbar.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737360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173736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186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A9D8F"/>
                </a:solidFill>
                <a:latin typeface="Helvetica Neue"/>
              </a:rP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Helvetica Neue"/>
              </a:rPr>
              <a:t>Label Propagation
(Graph-basiert)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2834640"/>
            <a:ext cx="1737360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2834640"/>
            <a:ext cx="173736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M2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2186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A9D8F"/>
                </a:solidFill>
                <a:latin typeface="Helvetica Neue"/>
              </a:rP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703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Helvetica Neue"/>
              </a:rPr>
              <a:t>Regel-Kaskade
(Expert-Rules)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834640"/>
            <a:ext cx="1737360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2834640"/>
            <a:ext cx="173736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2186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9C46A"/>
                </a:solidFill>
                <a:latin typeface="Helvetica Neue"/>
              </a:rPr>
              <a:t>50%*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703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Helvetica Neue"/>
              </a:rPr>
              <a:t>Weighted Scoring
(Gewichte-Matrix Draft)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Helvetica Neue"/>
              </a:rPr>
              <a:t>* Draft-Gewichte — Kalibrierung ausstehend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17720"/>
            <a:ext cx="5486400" cy="1143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617720"/>
            <a:ext cx="45720" cy="11430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9C46A"/>
                </a:solidFill>
                <a:latin typeface="Helvetica Neue"/>
              </a:rPr>
              <a:t>WARUM 50% — UND WAS ZU TUN 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8920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warm-Spalte nutzt 0-20 Gewichte vs. 0-10 fur alle anderen Cluster → warm dominiert 88/130 Rezepturen.  Walderdbeere-CAS (Methylanthranilat) haben Outlayer-Gewicht = 0.  Dairy-CAS (Diacetyl, Acetoin) fehlen in der Gewichte-Matrix.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261872"/>
            <a:ext cx="548640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261872"/>
            <a:ext cx="54864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353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3946"/>
                </a:solidFill>
                <a:latin typeface="Helvetica Neue"/>
              </a:rPr>
              <a:t>NACHSTE SCHRITTE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719072"/>
            <a:ext cx="36576" cy="86868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170078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1. MS-Gewichte kalibrieren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020824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Melanie verfeinert Gewichte-Matrix: warm-Skala angleichen, Walderdbeere- und Dairy-CAS ergangen. Notebook berechnet neue Genauigkeit automatisch.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798063"/>
            <a:ext cx="36576" cy="8686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2779775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2. Cluster-Bausteine definieren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099815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Pro Cluster: Top-Rohstoffe aus PCA als Standardbausteine kodieren. Basis fur den ersten automatischen Rezeptur-Vorschlag.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877056"/>
            <a:ext cx="36576" cy="8686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8587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3. Erstrezeptur-Prototyp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17880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Kundenbriefing → Cluster-Zuordnung → Skelett + Bausteine aus Cluster-Profil. Erster end-to-end Demo fur Erdbeere.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956048"/>
            <a:ext cx="36576" cy="8686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937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4. Weitere Fruchte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2578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Aprikose-Clustering lauft bereits. Gleiche Pipeline auf Kirsche und Schwarze Johannisbeere anwenden.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3367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  <a:latin typeface="Helvetica Neue"/>
              </a:rPr>
              <a:t>TAIsty / KI-gestutzte Aromaentwicklung / Stand: Juli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36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66"/>
                </a:solidFill>
                <a:latin typeface="Helvetica Neue"/>
              </a:rPr>
              <a:t>Vertraulich — Internes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