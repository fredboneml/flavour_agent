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707AD6-0C6A-4FD0-9063-AB55DA484EF3}" v="78" dt="2026-07-22T14:35:26.3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28016"/>
            <a:ext cx="10972800" cy="256032"/>
          </a:xfrm>
          <a:prstGeom prst="rect">
            <a:avLst/>
          </a:prstGeom>
          <a:noFill/>
        </p:spPr>
        <p:txBody>
          <a:bodyPr wrap="square">
            <a:spAutoFit/>
          </a:bodyPr>
          <a:lstStyle/>
          <a:p>
            <a:pPr algn="l"/>
            <a:r>
              <a:rPr sz="800" b="1" i="0">
                <a:solidFill>
                  <a:srgbClr val="AABBCC"/>
                </a:solidFill>
                <a:latin typeface="Calibri"/>
              </a:rPr>
              <a:t>01 / BACKGROUND &amp; GOAL</a:t>
            </a:r>
          </a:p>
        </p:txBody>
      </p:sp>
      <p:sp>
        <p:nvSpPr>
          <p:cNvPr id="4" name="TextBox 3"/>
          <p:cNvSpPr txBox="1"/>
          <p:nvPr/>
        </p:nvSpPr>
        <p:spPr>
          <a:xfrm>
            <a:off x="411480" y="347472"/>
            <a:ext cx="10972800" cy="658368"/>
          </a:xfrm>
          <a:prstGeom prst="rect">
            <a:avLst/>
          </a:prstGeom>
          <a:noFill/>
        </p:spPr>
        <p:txBody>
          <a:bodyPr wrap="square">
            <a:spAutoFit/>
          </a:bodyPr>
          <a:lstStyle/>
          <a:p>
            <a:pPr algn="l"/>
            <a:r>
              <a:rPr sz="2600" b="1" i="0">
                <a:solidFill>
                  <a:srgbClr val="FFFFFF"/>
                </a:solidFill>
                <a:latin typeface="Calibri"/>
              </a:rPr>
              <a:t>TAIsty: Faster to the First Formulation</a:t>
            </a:r>
          </a:p>
        </p:txBody>
      </p:sp>
      <p:sp>
        <p:nvSpPr>
          <p:cNvPr id="5" name="TextBox 4"/>
          <p:cNvSpPr txBox="1"/>
          <p:nvPr/>
        </p:nvSpPr>
        <p:spPr>
          <a:xfrm>
            <a:off x="411480" y="960120"/>
            <a:ext cx="10972800" cy="261610"/>
          </a:xfrm>
          <a:prstGeom prst="rect">
            <a:avLst/>
          </a:prstGeom>
          <a:noFill/>
        </p:spPr>
        <p:txBody>
          <a:bodyPr wrap="square" lIns="91440" tIns="45720" rIns="91440" bIns="45720" anchor="t">
            <a:spAutoFit/>
          </a:bodyPr>
          <a:lstStyle/>
          <a:p>
            <a:r>
              <a:rPr sz="1100" b="0" i="1">
                <a:solidFill>
                  <a:srgbClr val="CCDDEE"/>
                </a:solidFill>
                <a:latin typeface="Calibri"/>
              </a:rPr>
              <a:t>AI-assisted flavor development </a:t>
            </a:r>
            <a:r>
              <a:rPr lang="de-DE" sz="1100" i="1">
                <a:solidFill>
                  <a:srgbClr val="CCDDEE"/>
                </a:solidFill>
                <a:latin typeface="Calibri"/>
              </a:rPr>
              <a:t>- </a:t>
            </a:r>
            <a:r>
              <a:rPr sz="1100" b="0" i="1">
                <a:solidFill>
                  <a:srgbClr val="CCDDEE"/>
                </a:solidFill>
                <a:latin typeface="Calibri"/>
              </a:rPr>
              <a:t>vision, approach, and strawberry pilot</a:t>
            </a:r>
          </a:p>
        </p:txBody>
      </p:sp>
      <p:sp>
        <p:nvSpPr>
          <p:cNvPr id="6" name="Rectangle 5"/>
          <p:cNvSpPr/>
          <p:nvPr/>
        </p:nvSpPr>
        <p:spPr>
          <a:xfrm>
            <a:off x="0" y="6510528"/>
            <a:ext cx="12188952" cy="347472"/>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10528"/>
            <a:ext cx="36576" cy="3474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56248"/>
            <a:ext cx="8229600" cy="228600"/>
          </a:xfrm>
          <a:prstGeom prst="rect">
            <a:avLst/>
          </a:prstGeom>
          <a:noFill/>
        </p:spPr>
        <p:txBody>
          <a:bodyPr wrap="square">
            <a:spAutoFit/>
          </a:bodyPr>
          <a:lstStyle/>
          <a:p>
            <a:pPr algn="l"/>
            <a:r>
              <a:rPr sz="750" b="0" i="0">
                <a:solidFill>
                  <a:srgbClr val="666666"/>
                </a:solidFill>
                <a:latin typeface="Calibri"/>
              </a:rPr>
              <a:t>TAIsty  |  AI-Assisted Flavor Development  |  Status July 2026  |  Confidential</a:t>
            </a:r>
          </a:p>
        </p:txBody>
      </p:sp>
      <p:sp>
        <p:nvSpPr>
          <p:cNvPr id="9" name="TextBox 8"/>
          <p:cNvSpPr txBox="1"/>
          <p:nvPr/>
        </p:nvSpPr>
        <p:spPr>
          <a:xfrm>
            <a:off x="8686800" y="6556248"/>
            <a:ext cx="3291840" cy="228600"/>
          </a:xfrm>
          <a:prstGeom prst="rect">
            <a:avLst/>
          </a:prstGeom>
          <a:noFill/>
        </p:spPr>
        <p:txBody>
          <a:bodyPr wrap="square">
            <a:spAutoFit/>
          </a:bodyPr>
          <a:lstStyle/>
          <a:p>
            <a:pPr algn="r"/>
            <a:r>
              <a:rPr sz="750" b="0" i="0">
                <a:solidFill>
                  <a:srgbClr val="666666"/>
                </a:solidFill>
                <a:latin typeface="Calibri"/>
              </a:rPr>
              <a:t>1 / 5</a:t>
            </a:r>
          </a:p>
        </p:txBody>
      </p:sp>
      <p:sp>
        <p:nvSpPr>
          <p:cNvPr id="10" name="TextBox 9"/>
          <p:cNvSpPr txBox="1"/>
          <p:nvPr/>
        </p:nvSpPr>
        <p:spPr>
          <a:xfrm>
            <a:off x="411480" y="1389888"/>
            <a:ext cx="5303520" cy="237744"/>
          </a:xfrm>
          <a:prstGeom prst="rect">
            <a:avLst/>
          </a:prstGeom>
          <a:noFill/>
        </p:spPr>
        <p:txBody>
          <a:bodyPr wrap="square">
            <a:spAutoFit/>
          </a:bodyPr>
          <a:lstStyle/>
          <a:p>
            <a:pPr algn="l"/>
            <a:r>
              <a:rPr sz="800" b="1" i="0">
                <a:solidFill>
                  <a:srgbClr val="E67E22"/>
                </a:solidFill>
                <a:latin typeface="Calibri"/>
              </a:rPr>
              <a:t>THE PROBLEM</a:t>
            </a:r>
          </a:p>
        </p:txBody>
      </p:sp>
      <p:sp>
        <p:nvSpPr>
          <p:cNvPr id="11" name="Rectangle 10"/>
          <p:cNvSpPr/>
          <p:nvPr/>
        </p:nvSpPr>
        <p:spPr>
          <a:xfrm>
            <a:off x="411480" y="1627632"/>
            <a:ext cx="5303520" cy="1389888"/>
          </a:xfrm>
          <a:prstGeom prst="rect">
            <a:avLst/>
          </a:prstGeom>
          <a:solidFill>
            <a:srgbClr val="FDF2E9"/>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1480" y="1627632"/>
            <a:ext cx="41148" cy="138988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700784"/>
            <a:ext cx="5047488" cy="1243584"/>
          </a:xfrm>
          <a:prstGeom prst="rect">
            <a:avLst/>
          </a:prstGeom>
          <a:noFill/>
        </p:spPr>
        <p:txBody>
          <a:bodyPr wrap="square">
            <a:spAutoFit/>
          </a:bodyPr>
          <a:lstStyle/>
          <a:p>
            <a:pPr algn="l"/>
            <a:r>
              <a:rPr sz="1100" b="0" i="0">
                <a:solidFill>
                  <a:srgbClr val="2C3E50"/>
                </a:solidFill>
                <a:latin typeface="Calibri"/>
              </a:rPr>
              <a:t>Developing an initial formulation today is a manual, experience-driven process. Every new customer brief essentially starts from scratch, without systematically leveraging the knowledge embedded in hundreds of historical formulations already in our portfolio.</a:t>
            </a:r>
          </a:p>
        </p:txBody>
      </p:sp>
      <p:sp>
        <p:nvSpPr>
          <p:cNvPr id="14" name="TextBox 13"/>
          <p:cNvSpPr txBox="1"/>
          <p:nvPr/>
        </p:nvSpPr>
        <p:spPr>
          <a:xfrm>
            <a:off x="411480" y="3163824"/>
            <a:ext cx="5303520" cy="237744"/>
          </a:xfrm>
          <a:prstGeom prst="rect">
            <a:avLst/>
          </a:prstGeom>
          <a:noFill/>
        </p:spPr>
        <p:txBody>
          <a:bodyPr wrap="square">
            <a:spAutoFit/>
          </a:bodyPr>
          <a:lstStyle/>
          <a:p>
            <a:pPr algn="l"/>
            <a:r>
              <a:rPr sz="800" b="1" i="0">
                <a:solidFill>
                  <a:srgbClr val="17A589"/>
                </a:solidFill>
                <a:latin typeface="Calibri"/>
              </a:rPr>
              <a:t>THE GOAL</a:t>
            </a:r>
          </a:p>
        </p:txBody>
      </p:sp>
      <p:sp>
        <p:nvSpPr>
          <p:cNvPr id="15" name="Rectangle 14"/>
          <p:cNvSpPr/>
          <p:nvPr/>
        </p:nvSpPr>
        <p:spPr>
          <a:xfrm>
            <a:off x="411480" y="3401568"/>
            <a:ext cx="5303520" cy="1508760"/>
          </a:xfrm>
          <a:prstGeom prst="rect">
            <a:avLst/>
          </a:prstGeom>
          <a:solidFill>
            <a:srgbClr val="E9F7EF"/>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1480" y="3401568"/>
            <a:ext cx="41148" cy="150876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3474720"/>
            <a:ext cx="5047488" cy="1371600"/>
          </a:xfrm>
          <a:prstGeom prst="rect">
            <a:avLst/>
          </a:prstGeom>
          <a:noFill/>
        </p:spPr>
        <p:txBody>
          <a:bodyPr wrap="square">
            <a:spAutoFit/>
          </a:bodyPr>
          <a:lstStyle/>
          <a:p>
            <a:pPr algn="l"/>
            <a:r>
              <a:rPr sz="1100" b="0" i="0">
                <a:solidFill>
                  <a:srgbClr val="2C3E50"/>
                </a:solidFill>
                <a:latin typeface="Calibri"/>
              </a:rPr>
              <a:t>TAIsty analyzes historical formulations, identifies sensory archetypes, and derives standardized building blocks validated by our flavor experts. Objective: a well-grounded first-formulation proposal at the push of a button, significantly reducing development cycles and reliance on individual memory.</a:t>
            </a:r>
          </a:p>
        </p:txBody>
      </p:sp>
      <p:sp>
        <p:nvSpPr>
          <p:cNvPr id="18" name="Rectangle 17"/>
          <p:cNvSpPr/>
          <p:nvPr/>
        </p:nvSpPr>
        <p:spPr>
          <a:xfrm>
            <a:off x="6035040" y="1353312"/>
            <a:ext cx="5760720" cy="477316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35040" y="1353312"/>
            <a:ext cx="5760720" cy="29260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44768" y="1389888"/>
            <a:ext cx="5486400" cy="237744"/>
          </a:xfrm>
          <a:prstGeom prst="rect">
            <a:avLst/>
          </a:prstGeom>
          <a:noFill/>
        </p:spPr>
        <p:txBody>
          <a:bodyPr wrap="square">
            <a:spAutoFit/>
          </a:bodyPr>
          <a:lstStyle/>
          <a:p>
            <a:pPr algn="l"/>
            <a:r>
              <a:rPr sz="900" b="1" i="0">
                <a:solidFill>
                  <a:srgbClr val="FFFFFF"/>
                </a:solidFill>
                <a:latin typeface="Calibri"/>
              </a:rPr>
              <a:t>OUR APPROACH</a:t>
            </a:r>
          </a:p>
        </p:txBody>
      </p:sp>
      <p:sp>
        <p:nvSpPr>
          <p:cNvPr id="21" name="Rectangle 20"/>
          <p:cNvSpPr/>
          <p:nvPr/>
        </p:nvSpPr>
        <p:spPr>
          <a:xfrm>
            <a:off x="6263640" y="1828800"/>
            <a:ext cx="274320" cy="27432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1810512"/>
            <a:ext cx="274320" cy="274320"/>
          </a:xfrm>
          <a:prstGeom prst="rect">
            <a:avLst/>
          </a:prstGeom>
          <a:noFill/>
        </p:spPr>
        <p:txBody>
          <a:bodyPr wrap="square">
            <a:spAutoFit/>
          </a:bodyPr>
          <a:lstStyle/>
          <a:p>
            <a:pPr algn="ctr"/>
            <a:r>
              <a:rPr sz="1000" b="1" i="0">
                <a:solidFill>
                  <a:srgbClr val="FFFFFF"/>
                </a:solidFill>
                <a:latin typeface="Calibri"/>
              </a:rPr>
              <a:t>1</a:t>
            </a:r>
          </a:p>
        </p:txBody>
      </p:sp>
      <p:sp>
        <p:nvSpPr>
          <p:cNvPr id="23" name="TextBox 22"/>
          <p:cNvSpPr txBox="1"/>
          <p:nvPr/>
        </p:nvSpPr>
        <p:spPr>
          <a:xfrm>
            <a:off x="6656832" y="1792224"/>
            <a:ext cx="4983480" cy="256032"/>
          </a:xfrm>
          <a:prstGeom prst="rect">
            <a:avLst/>
          </a:prstGeom>
          <a:noFill/>
        </p:spPr>
        <p:txBody>
          <a:bodyPr wrap="square">
            <a:spAutoFit/>
          </a:bodyPr>
          <a:lstStyle/>
          <a:p>
            <a:pPr algn="l"/>
            <a:r>
              <a:rPr sz="1100" b="1" i="0">
                <a:solidFill>
                  <a:srgbClr val="2C3E50"/>
                </a:solidFill>
                <a:latin typeface="Calibri"/>
              </a:rPr>
              <a:t>Cluster historical formulations</a:t>
            </a:r>
          </a:p>
        </p:txBody>
      </p:sp>
      <p:sp>
        <p:nvSpPr>
          <p:cNvPr id="24" name="TextBox 23"/>
          <p:cNvSpPr txBox="1"/>
          <p:nvPr/>
        </p:nvSpPr>
        <p:spPr>
          <a:xfrm>
            <a:off x="6656832" y="2066544"/>
            <a:ext cx="4983480" cy="640080"/>
          </a:xfrm>
          <a:prstGeom prst="rect">
            <a:avLst/>
          </a:prstGeom>
          <a:noFill/>
        </p:spPr>
        <p:txBody>
          <a:bodyPr wrap="square">
            <a:spAutoFit/>
          </a:bodyPr>
          <a:lstStyle/>
          <a:p>
            <a:pPr algn="l"/>
            <a:r>
              <a:rPr sz="950" b="0" i="0">
                <a:solidFill>
                  <a:srgbClr val="666666"/>
                </a:solidFill>
                <a:latin typeface="Calibri"/>
              </a:rPr>
              <a:t>Group 130+ strawberry recipes into 7 sensory archetypes, defined and validated by flavorists.</a:t>
            </a:r>
          </a:p>
        </p:txBody>
      </p:sp>
      <p:sp>
        <p:nvSpPr>
          <p:cNvPr id="25" name="Rectangle 24"/>
          <p:cNvSpPr/>
          <p:nvPr/>
        </p:nvSpPr>
        <p:spPr>
          <a:xfrm>
            <a:off x="6263640" y="2871215"/>
            <a:ext cx="274320" cy="2743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63640" y="2852927"/>
            <a:ext cx="274320" cy="274320"/>
          </a:xfrm>
          <a:prstGeom prst="rect">
            <a:avLst/>
          </a:prstGeom>
          <a:noFill/>
        </p:spPr>
        <p:txBody>
          <a:bodyPr wrap="square">
            <a:spAutoFit/>
          </a:bodyPr>
          <a:lstStyle/>
          <a:p>
            <a:pPr algn="ctr"/>
            <a:r>
              <a:rPr sz="1000" b="1" i="0">
                <a:solidFill>
                  <a:srgbClr val="FFFFFF"/>
                </a:solidFill>
                <a:latin typeface="Calibri"/>
              </a:rPr>
              <a:t>2</a:t>
            </a:r>
          </a:p>
        </p:txBody>
      </p:sp>
      <p:sp>
        <p:nvSpPr>
          <p:cNvPr id="27" name="TextBox 26"/>
          <p:cNvSpPr txBox="1"/>
          <p:nvPr/>
        </p:nvSpPr>
        <p:spPr>
          <a:xfrm>
            <a:off x="6656832" y="2834639"/>
            <a:ext cx="4983480" cy="256032"/>
          </a:xfrm>
          <a:prstGeom prst="rect">
            <a:avLst/>
          </a:prstGeom>
          <a:noFill/>
        </p:spPr>
        <p:txBody>
          <a:bodyPr wrap="square">
            <a:spAutoFit/>
          </a:bodyPr>
          <a:lstStyle/>
          <a:p>
            <a:pPr algn="l"/>
            <a:r>
              <a:rPr sz="1100" b="1" i="0">
                <a:solidFill>
                  <a:srgbClr val="2C3E50"/>
                </a:solidFill>
                <a:latin typeface="Calibri"/>
              </a:rPr>
              <a:t>Extract cluster fingerprints</a:t>
            </a:r>
          </a:p>
        </p:txBody>
      </p:sp>
      <p:sp>
        <p:nvSpPr>
          <p:cNvPr id="28" name="TextBox 27"/>
          <p:cNvSpPr txBox="1"/>
          <p:nvPr/>
        </p:nvSpPr>
        <p:spPr>
          <a:xfrm>
            <a:off x="6656832" y="3108959"/>
            <a:ext cx="4983480" cy="640080"/>
          </a:xfrm>
          <a:prstGeom prst="rect">
            <a:avLst/>
          </a:prstGeom>
          <a:noFill/>
        </p:spPr>
        <p:txBody>
          <a:bodyPr wrap="square">
            <a:spAutoFit/>
          </a:bodyPr>
          <a:lstStyle/>
          <a:p>
            <a:pPr algn="l"/>
            <a:r>
              <a:rPr sz="950" b="0" i="0">
                <a:solidFill>
                  <a:srgbClr val="666666"/>
                </a:solidFill>
                <a:latin typeface="Calibri"/>
              </a:rPr>
              <a:t>Identify the key raw materials that characterize each archetype, using statistical analysis of validated recipes.</a:t>
            </a:r>
          </a:p>
        </p:txBody>
      </p:sp>
      <p:sp>
        <p:nvSpPr>
          <p:cNvPr id="29" name="Rectangle 28"/>
          <p:cNvSpPr/>
          <p:nvPr/>
        </p:nvSpPr>
        <p:spPr>
          <a:xfrm>
            <a:off x="6263640" y="3913632"/>
            <a:ext cx="274320" cy="2743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63640" y="3895344"/>
            <a:ext cx="274320" cy="274320"/>
          </a:xfrm>
          <a:prstGeom prst="rect">
            <a:avLst/>
          </a:prstGeom>
          <a:noFill/>
        </p:spPr>
        <p:txBody>
          <a:bodyPr wrap="square">
            <a:spAutoFit/>
          </a:bodyPr>
          <a:lstStyle/>
          <a:p>
            <a:pPr algn="ctr"/>
            <a:r>
              <a:rPr sz="1000" b="1" i="0">
                <a:solidFill>
                  <a:srgbClr val="FFFFFF"/>
                </a:solidFill>
                <a:latin typeface="Calibri"/>
              </a:rPr>
              <a:t>3</a:t>
            </a:r>
          </a:p>
        </p:txBody>
      </p:sp>
      <p:sp>
        <p:nvSpPr>
          <p:cNvPr id="31" name="TextBox 30"/>
          <p:cNvSpPr txBox="1"/>
          <p:nvPr/>
        </p:nvSpPr>
        <p:spPr>
          <a:xfrm>
            <a:off x="6656832" y="3877056"/>
            <a:ext cx="4983480" cy="256032"/>
          </a:xfrm>
          <a:prstGeom prst="rect">
            <a:avLst/>
          </a:prstGeom>
          <a:noFill/>
        </p:spPr>
        <p:txBody>
          <a:bodyPr wrap="square">
            <a:spAutoFit/>
          </a:bodyPr>
          <a:lstStyle/>
          <a:p>
            <a:pPr algn="l"/>
            <a:r>
              <a:rPr sz="1100" b="1" i="0">
                <a:solidFill>
                  <a:srgbClr val="2C3E50"/>
                </a:solidFill>
                <a:latin typeface="Calibri"/>
              </a:rPr>
              <a:t>Embed expert knowledge</a:t>
            </a:r>
          </a:p>
        </p:txBody>
      </p:sp>
      <p:sp>
        <p:nvSpPr>
          <p:cNvPr id="32" name="TextBox 31"/>
          <p:cNvSpPr txBox="1"/>
          <p:nvPr/>
        </p:nvSpPr>
        <p:spPr>
          <a:xfrm>
            <a:off x="6656832" y="4151376"/>
            <a:ext cx="4983480" cy="640080"/>
          </a:xfrm>
          <a:prstGeom prst="rect">
            <a:avLst/>
          </a:prstGeom>
          <a:noFill/>
        </p:spPr>
        <p:txBody>
          <a:bodyPr wrap="square">
            <a:spAutoFit/>
          </a:bodyPr>
          <a:lstStyle/>
          <a:p>
            <a:pPr algn="l"/>
            <a:r>
              <a:rPr sz="950" b="0" i="0">
                <a:solidFill>
                  <a:srgbClr val="666666"/>
                </a:solidFill>
                <a:latin typeface="Calibri"/>
              </a:rPr>
              <a:t>Encode flavorist rules and threshold knowledge for automatic, transparent recipe classification.</a:t>
            </a:r>
          </a:p>
        </p:txBody>
      </p:sp>
      <p:sp>
        <p:nvSpPr>
          <p:cNvPr id="33" name="Rectangle 32"/>
          <p:cNvSpPr/>
          <p:nvPr/>
        </p:nvSpPr>
        <p:spPr>
          <a:xfrm>
            <a:off x="6263640" y="4956048"/>
            <a:ext cx="274320" cy="274320"/>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63640" y="4937760"/>
            <a:ext cx="274320" cy="274320"/>
          </a:xfrm>
          <a:prstGeom prst="rect">
            <a:avLst/>
          </a:prstGeom>
          <a:noFill/>
        </p:spPr>
        <p:txBody>
          <a:bodyPr wrap="square">
            <a:spAutoFit/>
          </a:bodyPr>
          <a:lstStyle/>
          <a:p>
            <a:pPr algn="ctr"/>
            <a:r>
              <a:rPr sz="1000" b="1" i="0">
                <a:solidFill>
                  <a:srgbClr val="FFFFFF"/>
                </a:solidFill>
                <a:latin typeface="Calibri"/>
              </a:rPr>
              <a:t>4</a:t>
            </a:r>
          </a:p>
        </p:txBody>
      </p:sp>
      <p:sp>
        <p:nvSpPr>
          <p:cNvPr id="35" name="TextBox 34"/>
          <p:cNvSpPr txBox="1"/>
          <p:nvPr/>
        </p:nvSpPr>
        <p:spPr>
          <a:xfrm>
            <a:off x="6656832" y="4919472"/>
            <a:ext cx="4983480" cy="256032"/>
          </a:xfrm>
          <a:prstGeom prst="rect">
            <a:avLst/>
          </a:prstGeom>
          <a:noFill/>
        </p:spPr>
        <p:txBody>
          <a:bodyPr wrap="square">
            <a:spAutoFit/>
          </a:bodyPr>
          <a:lstStyle/>
          <a:p>
            <a:pPr algn="l"/>
            <a:r>
              <a:rPr sz="1100" b="1" i="0">
                <a:solidFill>
                  <a:srgbClr val="2C3E50"/>
                </a:solidFill>
                <a:latin typeface="Calibri"/>
              </a:rPr>
              <a:t>Generate first-formulation proposals</a:t>
            </a:r>
          </a:p>
        </p:txBody>
      </p:sp>
      <p:sp>
        <p:nvSpPr>
          <p:cNvPr id="36" name="TextBox 35"/>
          <p:cNvSpPr txBox="1"/>
          <p:nvPr/>
        </p:nvSpPr>
        <p:spPr>
          <a:xfrm>
            <a:off x="6656832" y="5193792"/>
            <a:ext cx="4983480" cy="640080"/>
          </a:xfrm>
          <a:prstGeom prst="rect">
            <a:avLst/>
          </a:prstGeom>
          <a:noFill/>
        </p:spPr>
        <p:txBody>
          <a:bodyPr wrap="square">
            <a:spAutoFit/>
          </a:bodyPr>
          <a:lstStyle/>
          <a:p>
            <a:pPr algn="l"/>
            <a:r>
              <a:rPr sz="950" b="0" i="0">
                <a:solidFill>
                  <a:srgbClr val="666666"/>
                </a:solidFill>
                <a:latin typeface="Calibri"/>
              </a:rPr>
              <a:t>Customer brief matched to archetype. Skeleton formulation and building blocks generated automatically.</a:t>
            </a:r>
          </a:p>
        </p:txBody>
      </p:sp>
      <p:sp>
        <p:nvSpPr>
          <p:cNvPr id="37" name="Rectangle 36"/>
          <p:cNvSpPr/>
          <p:nvPr/>
        </p:nvSpPr>
        <p:spPr>
          <a:xfrm>
            <a:off x="411480" y="5540284"/>
            <a:ext cx="11338560" cy="566928"/>
          </a:xfrm>
          <a:prstGeom prst="rect">
            <a:avLst/>
          </a:prstGeom>
          <a:solidFill>
            <a:srgbClr val="EBF5FB"/>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0701" y="5230776"/>
            <a:ext cx="1645920" cy="219456"/>
          </a:xfrm>
          <a:prstGeom prst="rect">
            <a:avLst/>
          </a:prstGeom>
          <a:noFill/>
        </p:spPr>
        <p:txBody>
          <a:bodyPr wrap="square">
            <a:spAutoFit/>
          </a:bodyPr>
          <a:lstStyle/>
          <a:p>
            <a:pPr algn="l"/>
            <a:r>
              <a:rPr sz="800" b="1" i="0">
                <a:solidFill>
                  <a:srgbClr val="2E86C1"/>
                </a:solidFill>
                <a:latin typeface="Calibri"/>
              </a:rPr>
              <a:t>PILOT SCOPE</a:t>
            </a:r>
          </a:p>
        </p:txBody>
      </p:sp>
      <p:sp>
        <p:nvSpPr>
          <p:cNvPr id="39" name="TextBox 38"/>
          <p:cNvSpPr txBox="1"/>
          <p:nvPr/>
        </p:nvSpPr>
        <p:spPr>
          <a:xfrm>
            <a:off x="1858631" y="5634908"/>
            <a:ext cx="9601200" cy="400110"/>
          </a:xfrm>
          <a:prstGeom prst="rect">
            <a:avLst/>
          </a:prstGeom>
          <a:noFill/>
        </p:spPr>
        <p:txBody>
          <a:bodyPr wrap="square" lIns="91440" tIns="45720" rIns="91440" bIns="45720" anchor="t">
            <a:spAutoFit/>
          </a:bodyPr>
          <a:lstStyle/>
          <a:p>
            <a:r>
              <a:rPr sz="1000" b="0" i="0" dirty="0" err="1">
                <a:solidFill>
                  <a:srgbClr val="2C3E50"/>
                </a:solidFill>
                <a:latin typeface="Calibri"/>
              </a:rPr>
              <a:t>We</a:t>
            </a:r>
            <a:r>
              <a:rPr sz="1000" b="0" i="0" dirty="0">
                <a:solidFill>
                  <a:srgbClr val="2C3E50"/>
                </a:solidFill>
                <a:latin typeface="Calibri"/>
              </a:rPr>
              <a:t> </a:t>
            </a:r>
            <a:r>
              <a:rPr sz="1000" b="0" i="0" dirty="0" err="1">
                <a:solidFill>
                  <a:srgbClr val="2C3E50"/>
                </a:solidFill>
                <a:latin typeface="Calibri"/>
              </a:rPr>
              <a:t>started</a:t>
            </a:r>
            <a:r>
              <a:rPr sz="1000" b="0" i="0" dirty="0">
                <a:solidFill>
                  <a:srgbClr val="2C3E50"/>
                </a:solidFill>
                <a:latin typeface="Calibri"/>
              </a:rPr>
              <a:t> </a:t>
            </a:r>
            <a:r>
              <a:rPr sz="1000" b="0" i="0" dirty="0" err="1">
                <a:solidFill>
                  <a:srgbClr val="2C3E50"/>
                </a:solidFill>
                <a:latin typeface="Calibri"/>
              </a:rPr>
              <a:t>with</a:t>
            </a:r>
            <a:r>
              <a:rPr sz="1000" b="0" i="0" dirty="0">
                <a:solidFill>
                  <a:srgbClr val="2C3E50"/>
                </a:solidFill>
                <a:latin typeface="Calibri"/>
              </a:rPr>
              <a:t> </a:t>
            </a:r>
            <a:r>
              <a:rPr sz="1000" b="0" i="0" dirty="0" err="1">
                <a:solidFill>
                  <a:srgbClr val="2C3E50"/>
                </a:solidFill>
                <a:latin typeface="Calibri"/>
              </a:rPr>
              <a:t>strawberry</a:t>
            </a:r>
            <a:r>
              <a:rPr sz="1000" b="0" i="0" dirty="0">
                <a:solidFill>
                  <a:srgbClr val="2C3E50"/>
                </a:solidFill>
                <a:latin typeface="Calibri"/>
              </a:rPr>
              <a:t>, </a:t>
            </a:r>
            <a:r>
              <a:rPr sz="1000" b="0" i="0" dirty="0" err="1">
                <a:solidFill>
                  <a:srgbClr val="2C3E50"/>
                </a:solidFill>
                <a:latin typeface="Calibri"/>
              </a:rPr>
              <a:t>our</a:t>
            </a:r>
            <a:r>
              <a:rPr sz="1000" b="0" i="0" dirty="0">
                <a:solidFill>
                  <a:srgbClr val="2C3E50"/>
                </a:solidFill>
                <a:latin typeface="Calibri"/>
              </a:rPr>
              <a:t> </a:t>
            </a:r>
            <a:r>
              <a:rPr sz="1000" b="0" i="0" dirty="0" err="1">
                <a:solidFill>
                  <a:srgbClr val="2C3E50"/>
                </a:solidFill>
                <a:latin typeface="Calibri"/>
              </a:rPr>
              <a:t>most</a:t>
            </a:r>
            <a:r>
              <a:rPr sz="1000" b="0" i="0" dirty="0">
                <a:solidFill>
                  <a:srgbClr val="2C3E50"/>
                </a:solidFill>
                <a:latin typeface="Calibri"/>
              </a:rPr>
              <a:t> </a:t>
            </a:r>
            <a:r>
              <a:rPr sz="1000" b="0" i="0" dirty="0" err="1">
                <a:solidFill>
                  <a:srgbClr val="2C3E50"/>
                </a:solidFill>
                <a:latin typeface="Calibri"/>
              </a:rPr>
              <a:t>complex</a:t>
            </a:r>
            <a:r>
              <a:rPr sz="1000" b="0" i="0" dirty="0">
                <a:solidFill>
                  <a:srgbClr val="2C3E50"/>
                </a:solidFill>
                <a:latin typeface="Calibri"/>
              </a:rPr>
              <a:t> and </a:t>
            </a:r>
            <a:r>
              <a:rPr sz="1000" b="0" i="0" dirty="0" err="1">
                <a:solidFill>
                  <a:srgbClr val="2C3E50"/>
                </a:solidFill>
                <a:latin typeface="Calibri"/>
              </a:rPr>
              <a:t>highest-priority</a:t>
            </a:r>
            <a:r>
              <a:rPr sz="1000" b="0" i="0" dirty="0">
                <a:solidFill>
                  <a:srgbClr val="2C3E50"/>
                </a:solidFill>
                <a:latin typeface="Calibri"/>
              </a:rPr>
              <a:t> </a:t>
            </a:r>
            <a:r>
              <a:rPr sz="1000" b="0" i="0" dirty="0" err="1">
                <a:solidFill>
                  <a:srgbClr val="2C3E50"/>
                </a:solidFill>
                <a:latin typeface="Calibri"/>
              </a:rPr>
              <a:t>fruit</a:t>
            </a:r>
            <a:r>
              <a:rPr sz="1000" b="0" i="0" dirty="0">
                <a:solidFill>
                  <a:srgbClr val="2C3E50"/>
                </a:solidFill>
                <a:latin typeface="Calibri"/>
              </a:rPr>
              <a:t>, </a:t>
            </a:r>
            <a:r>
              <a:rPr sz="1000" b="0" i="0" dirty="0" err="1">
                <a:solidFill>
                  <a:srgbClr val="2C3E50"/>
                </a:solidFill>
                <a:latin typeface="Calibri"/>
              </a:rPr>
              <a:t>with</a:t>
            </a:r>
            <a:r>
              <a:rPr sz="1000" b="0" i="0" dirty="0">
                <a:solidFill>
                  <a:srgbClr val="2C3E50"/>
                </a:solidFill>
                <a:latin typeface="Calibri"/>
              </a:rPr>
              <a:t> 130 </a:t>
            </a:r>
            <a:r>
              <a:rPr sz="1000" b="0" i="0" dirty="0" err="1">
                <a:solidFill>
                  <a:srgbClr val="2C3E50"/>
                </a:solidFill>
                <a:latin typeface="Calibri"/>
              </a:rPr>
              <a:t>historical</a:t>
            </a:r>
            <a:r>
              <a:rPr sz="1000" b="0" i="0" dirty="0">
                <a:solidFill>
                  <a:srgbClr val="2C3E50"/>
                </a:solidFill>
                <a:latin typeface="Calibri"/>
              </a:rPr>
              <a:t> </a:t>
            </a:r>
            <a:r>
              <a:rPr sz="1000" b="0" i="0" dirty="0" err="1">
                <a:solidFill>
                  <a:srgbClr val="2C3E50"/>
                </a:solidFill>
                <a:latin typeface="Calibri"/>
              </a:rPr>
              <a:t>formulations</a:t>
            </a:r>
            <a:r>
              <a:rPr sz="1000" b="0" i="0" dirty="0">
                <a:solidFill>
                  <a:srgbClr val="2C3E50"/>
                </a:solidFill>
                <a:latin typeface="Calibri"/>
              </a:rPr>
              <a:t>, 7 </a:t>
            </a:r>
            <a:r>
              <a:rPr sz="1000" b="0" i="0" dirty="0" err="1">
                <a:solidFill>
                  <a:srgbClr val="2C3E50"/>
                </a:solidFill>
                <a:latin typeface="Calibri"/>
              </a:rPr>
              <a:t>sensory</a:t>
            </a:r>
            <a:r>
              <a:rPr sz="1000" b="0" i="0" dirty="0">
                <a:solidFill>
                  <a:srgbClr val="2C3E50"/>
                </a:solidFill>
                <a:latin typeface="Calibri"/>
              </a:rPr>
              <a:t> </a:t>
            </a:r>
            <a:r>
              <a:rPr sz="1000" b="0" i="0" dirty="0" err="1">
                <a:solidFill>
                  <a:srgbClr val="2C3E50"/>
                </a:solidFill>
                <a:latin typeface="Calibri"/>
              </a:rPr>
              <a:t>archetypes</a:t>
            </a:r>
            <a:r>
              <a:rPr sz="1000" b="0" i="0" dirty="0">
                <a:solidFill>
                  <a:srgbClr val="2C3E50"/>
                </a:solidFill>
                <a:latin typeface="Calibri"/>
              </a:rPr>
              <a:t>, and a 4-person </a:t>
            </a:r>
            <a:r>
              <a:rPr sz="1000" b="0" i="0" dirty="0" err="1">
                <a:solidFill>
                  <a:srgbClr val="2C3E50"/>
                </a:solidFill>
                <a:latin typeface="Calibri"/>
              </a:rPr>
              <a:t>sensory</a:t>
            </a:r>
            <a:r>
              <a:rPr sz="1000" b="0" i="0" dirty="0">
                <a:solidFill>
                  <a:srgbClr val="2C3E50"/>
                </a:solidFill>
                <a:latin typeface="Calibri"/>
              </a:rPr>
              <a:t> </a:t>
            </a:r>
            <a:r>
              <a:rPr sz="1000" b="0" i="0" dirty="0" err="1">
                <a:solidFill>
                  <a:srgbClr val="2C3E50"/>
                </a:solidFill>
                <a:latin typeface="Calibri"/>
              </a:rPr>
              <a:t>panel</a:t>
            </a:r>
            <a:r>
              <a:rPr sz="1000" b="0" i="0" dirty="0">
                <a:solidFill>
                  <a:srgbClr val="2C3E50"/>
                </a:solidFill>
                <a:latin typeface="Calibri"/>
              </a:rPr>
              <a:t> for </a:t>
            </a:r>
            <a:r>
              <a:rPr sz="1000" b="0" i="0" dirty="0" err="1">
                <a:solidFill>
                  <a:srgbClr val="2C3E50"/>
                </a:solidFill>
                <a:latin typeface="Calibri"/>
              </a:rPr>
              <a:t>validation</a:t>
            </a:r>
            <a:r>
              <a:rPr sz="1000" b="0" i="0" dirty="0">
                <a:solidFill>
                  <a:srgbClr val="2C3E50"/>
                </a:solidFill>
                <a:latin typeface="Calibri"/>
              </a:rPr>
              <a:t>. Once the </a:t>
            </a:r>
            <a:r>
              <a:rPr sz="1000" b="0" i="0" dirty="0" err="1">
                <a:solidFill>
                  <a:srgbClr val="2C3E50"/>
                </a:solidFill>
                <a:latin typeface="Calibri"/>
              </a:rPr>
              <a:t>strawberry</a:t>
            </a:r>
            <a:r>
              <a:rPr sz="1000" b="0" i="0" dirty="0">
                <a:solidFill>
                  <a:srgbClr val="2C3E50"/>
                </a:solidFill>
                <a:latin typeface="Calibri"/>
              </a:rPr>
              <a:t> </a:t>
            </a:r>
            <a:r>
              <a:rPr sz="1000" b="0" i="0" dirty="0" err="1">
                <a:solidFill>
                  <a:srgbClr val="2C3E50"/>
                </a:solidFill>
                <a:latin typeface="Calibri"/>
              </a:rPr>
              <a:t>pilot</a:t>
            </a:r>
            <a:r>
              <a:rPr sz="1000" b="0" i="0" dirty="0">
                <a:solidFill>
                  <a:srgbClr val="2C3E50"/>
                </a:solidFill>
                <a:latin typeface="Calibri"/>
              </a:rPr>
              <a:t> </a:t>
            </a:r>
            <a:r>
              <a:rPr sz="1000" b="0" i="0" dirty="0" err="1">
                <a:solidFill>
                  <a:srgbClr val="2C3E50"/>
                </a:solidFill>
                <a:latin typeface="Calibri"/>
              </a:rPr>
              <a:t>is</a:t>
            </a:r>
            <a:r>
              <a:rPr sz="1000" b="0" i="0" dirty="0">
                <a:solidFill>
                  <a:srgbClr val="2C3E50"/>
                </a:solidFill>
                <a:latin typeface="Calibri"/>
              </a:rPr>
              <a:t> </a:t>
            </a:r>
            <a:r>
              <a:rPr sz="1000" b="0" i="0" dirty="0" err="1">
                <a:solidFill>
                  <a:srgbClr val="2C3E50"/>
                </a:solidFill>
                <a:latin typeface="Calibri"/>
              </a:rPr>
              <a:t>proven</a:t>
            </a:r>
            <a:r>
              <a:rPr sz="1000" b="0" i="0" dirty="0">
                <a:solidFill>
                  <a:srgbClr val="2C3E50"/>
                </a:solidFill>
                <a:latin typeface="Calibri"/>
              </a:rPr>
              <a:t>, the same </a:t>
            </a:r>
            <a:r>
              <a:rPr sz="1000" b="0" i="0" dirty="0" err="1">
                <a:solidFill>
                  <a:srgbClr val="2C3E50"/>
                </a:solidFill>
                <a:latin typeface="Calibri"/>
              </a:rPr>
              <a:t>framework</a:t>
            </a:r>
            <a:r>
              <a:rPr sz="1000" b="0" i="0" dirty="0">
                <a:solidFill>
                  <a:srgbClr val="2C3E50"/>
                </a:solidFill>
                <a:latin typeface="Calibri"/>
              </a:rPr>
              <a:t> </a:t>
            </a:r>
            <a:r>
              <a:rPr sz="1000" b="0" i="0" dirty="0" err="1">
                <a:solidFill>
                  <a:srgbClr val="2C3E50"/>
                </a:solidFill>
                <a:latin typeface="Calibri"/>
              </a:rPr>
              <a:t>scales</a:t>
            </a:r>
            <a:r>
              <a:rPr sz="1000" b="0" i="0" dirty="0">
                <a:solidFill>
                  <a:srgbClr val="2C3E50"/>
                </a:solidFill>
                <a:latin typeface="Calibri"/>
              </a:rPr>
              <a:t> to apricot, and </a:t>
            </a:r>
            <a:r>
              <a:rPr lang="de-DE" sz="1000" dirty="0" err="1">
                <a:solidFill>
                  <a:srgbClr val="2C3E50"/>
                </a:solidFill>
                <a:latin typeface="Calibri"/>
              </a:rPr>
              <a:t>other</a:t>
            </a:r>
            <a:r>
              <a:rPr lang="de-DE" sz="1000" dirty="0">
                <a:solidFill>
                  <a:srgbClr val="2C3E50"/>
                </a:solidFill>
                <a:latin typeface="Calibri"/>
              </a:rPr>
              <a:t> </a:t>
            </a:r>
            <a:r>
              <a:rPr lang="de-DE" sz="1000" dirty="0" err="1">
                <a:solidFill>
                  <a:srgbClr val="2C3E50"/>
                </a:solidFill>
                <a:latin typeface="Calibri"/>
              </a:rPr>
              <a:t>fruits</a:t>
            </a:r>
            <a:r>
              <a:rPr lang="de-DE" sz="1000" dirty="0">
                <a:solidFill>
                  <a:srgbClr val="2C3E50"/>
                </a:solidFill>
                <a:latin typeface="Calibri"/>
              </a:rPr>
              <a:t>.</a:t>
            </a:r>
            <a:endParaRPr lang="de-DE" sz="1000" b="0" i="0" dirty="0" err="1">
              <a:solidFill>
                <a:srgbClr val="2C3E50"/>
              </a:solidFill>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28016"/>
            <a:ext cx="10972800" cy="256032"/>
          </a:xfrm>
          <a:prstGeom prst="rect">
            <a:avLst/>
          </a:prstGeom>
          <a:noFill/>
        </p:spPr>
        <p:txBody>
          <a:bodyPr wrap="square">
            <a:spAutoFit/>
          </a:bodyPr>
          <a:lstStyle/>
          <a:p>
            <a:pPr algn="l"/>
            <a:r>
              <a:rPr sz="800" b="1" i="0">
                <a:solidFill>
                  <a:srgbClr val="AABBCC"/>
                </a:solidFill>
                <a:latin typeface="Calibri"/>
              </a:rPr>
              <a:t>02 / METHODOLOGY: DATA QUALITY</a:t>
            </a:r>
          </a:p>
        </p:txBody>
      </p:sp>
      <p:sp>
        <p:nvSpPr>
          <p:cNvPr id="4" name="TextBox 3"/>
          <p:cNvSpPr txBox="1"/>
          <p:nvPr/>
        </p:nvSpPr>
        <p:spPr>
          <a:xfrm>
            <a:off x="411480" y="347472"/>
            <a:ext cx="10972800" cy="658368"/>
          </a:xfrm>
          <a:prstGeom prst="rect">
            <a:avLst/>
          </a:prstGeom>
          <a:noFill/>
        </p:spPr>
        <p:txBody>
          <a:bodyPr wrap="square">
            <a:spAutoFit/>
          </a:bodyPr>
          <a:lstStyle/>
          <a:p>
            <a:pPr algn="l"/>
            <a:r>
              <a:rPr sz="2600" b="1" i="0">
                <a:solidFill>
                  <a:srgbClr val="FFFFFF"/>
                </a:solidFill>
                <a:latin typeface="Calibri"/>
              </a:rPr>
              <a:t>Building a Clean Foundation for Classification</a:t>
            </a:r>
          </a:p>
        </p:txBody>
      </p:sp>
      <p:sp>
        <p:nvSpPr>
          <p:cNvPr id="5" name="TextBox 4"/>
          <p:cNvSpPr txBox="1"/>
          <p:nvPr/>
        </p:nvSpPr>
        <p:spPr>
          <a:xfrm>
            <a:off x="411480" y="960120"/>
            <a:ext cx="10972800" cy="274320"/>
          </a:xfrm>
          <a:prstGeom prst="rect">
            <a:avLst/>
          </a:prstGeom>
          <a:noFill/>
        </p:spPr>
        <p:txBody>
          <a:bodyPr wrap="square">
            <a:spAutoFit/>
          </a:bodyPr>
          <a:lstStyle/>
          <a:p>
            <a:pPr algn="l"/>
            <a:r>
              <a:rPr sz="1100" b="0" i="1">
                <a:solidFill>
                  <a:srgbClr val="CCDDEE"/>
                </a:solidFill>
                <a:latin typeface="Calibri"/>
              </a:rPr>
              <a:t>Iterative framework to remove noise before clustering and scoring</a:t>
            </a:r>
          </a:p>
        </p:txBody>
      </p:sp>
      <p:sp>
        <p:nvSpPr>
          <p:cNvPr id="6" name="Rectangle 5"/>
          <p:cNvSpPr/>
          <p:nvPr/>
        </p:nvSpPr>
        <p:spPr>
          <a:xfrm>
            <a:off x="0" y="6510528"/>
            <a:ext cx="12188952" cy="347472"/>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10528"/>
            <a:ext cx="36576" cy="3474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56248"/>
            <a:ext cx="8229600" cy="228600"/>
          </a:xfrm>
          <a:prstGeom prst="rect">
            <a:avLst/>
          </a:prstGeom>
          <a:noFill/>
        </p:spPr>
        <p:txBody>
          <a:bodyPr wrap="square">
            <a:spAutoFit/>
          </a:bodyPr>
          <a:lstStyle/>
          <a:p>
            <a:pPr algn="l"/>
            <a:r>
              <a:rPr sz="750" b="0" i="0">
                <a:solidFill>
                  <a:srgbClr val="666666"/>
                </a:solidFill>
                <a:latin typeface="Calibri"/>
              </a:rPr>
              <a:t>TAIsty  |  AI-Assisted Flavor Development  |  Status July 2026  |  Confidential</a:t>
            </a:r>
          </a:p>
        </p:txBody>
      </p:sp>
      <p:sp>
        <p:nvSpPr>
          <p:cNvPr id="9" name="TextBox 8"/>
          <p:cNvSpPr txBox="1"/>
          <p:nvPr/>
        </p:nvSpPr>
        <p:spPr>
          <a:xfrm>
            <a:off x="8686800" y="6556248"/>
            <a:ext cx="3291840" cy="228600"/>
          </a:xfrm>
          <a:prstGeom prst="rect">
            <a:avLst/>
          </a:prstGeom>
          <a:noFill/>
        </p:spPr>
        <p:txBody>
          <a:bodyPr wrap="square">
            <a:spAutoFit/>
          </a:bodyPr>
          <a:lstStyle/>
          <a:p>
            <a:pPr algn="r"/>
            <a:r>
              <a:rPr sz="750" b="0" i="0">
                <a:solidFill>
                  <a:srgbClr val="666666"/>
                </a:solidFill>
                <a:latin typeface="Calibri"/>
              </a:rPr>
              <a:t>2 / 5</a:t>
            </a:r>
          </a:p>
        </p:txBody>
      </p:sp>
      <p:sp>
        <p:nvSpPr>
          <p:cNvPr id="10" name="Rectangle 9"/>
          <p:cNvSpPr/>
          <p:nvPr/>
        </p:nvSpPr>
        <p:spPr>
          <a:xfrm>
            <a:off x="411480" y="1463040"/>
            <a:ext cx="2103120"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536192"/>
            <a:ext cx="2103120" cy="292608"/>
          </a:xfrm>
          <a:prstGeom prst="rect">
            <a:avLst/>
          </a:prstGeom>
          <a:noFill/>
        </p:spPr>
        <p:txBody>
          <a:bodyPr wrap="square">
            <a:spAutoFit/>
          </a:bodyPr>
          <a:lstStyle/>
          <a:p>
            <a:pPr algn="ctr"/>
            <a:r>
              <a:rPr sz="1000" b="1" i="0">
                <a:solidFill>
                  <a:srgbClr val="FFFFFF"/>
                </a:solidFill>
                <a:latin typeface="Calibri"/>
              </a:rPr>
              <a:t>Raw Portfolio Data</a:t>
            </a:r>
          </a:p>
        </p:txBody>
      </p:sp>
      <p:sp>
        <p:nvSpPr>
          <p:cNvPr id="12" name="TextBox 11"/>
          <p:cNvSpPr txBox="1"/>
          <p:nvPr/>
        </p:nvSpPr>
        <p:spPr>
          <a:xfrm>
            <a:off x="411480" y="1847088"/>
            <a:ext cx="2103120" cy="585216"/>
          </a:xfrm>
          <a:prstGeom prst="rect">
            <a:avLst/>
          </a:prstGeom>
          <a:noFill/>
        </p:spPr>
        <p:txBody>
          <a:bodyPr wrap="square">
            <a:spAutoFit/>
          </a:bodyPr>
          <a:lstStyle/>
          <a:p>
            <a:pPr algn="ctr"/>
            <a:r>
              <a:rPr sz="850" b="0" i="0">
                <a:solidFill>
                  <a:srgbClr val="FFFFFF"/>
                </a:solidFill>
                <a:latin typeface="Calibri"/>
              </a:rPr>
              <a:t>130+ strawberry
recipes with full
ingredient composition</a:t>
            </a:r>
          </a:p>
        </p:txBody>
      </p:sp>
      <p:sp>
        <p:nvSpPr>
          <p:cNvPr id="13" name="TextBox 12"/>
          <p:cNvSpPr txBox="1"/>
          <p:nvPr/>
        </p:nvSpPr>
        <p:spPr>
          <a:xfrm>
            <a:off x="2532888" y="1737360"/>
            <a:ext cx="201168" cy="347472"/>
          </a:xfrm>
          <a:prstGeom prst="rect">
            <a:avLst/>
          </a:prstGeom>
          <a:noFill/>
        </p:spPr>
        <p:txBody>
          <a:bodyPr wrap="square">
            <a:spAutoFit/>
          </a:bodyPr>
          <a:lstStyle/>
          <a:p>
            <a:pPr algn="ctr"/>
            <a:r>
              <a:rPr sz="1800" b="1" i="0">
                <a:solidFill>
                  <a:srgbClr val="1B3A5C"/>
                </a:solidFill>
                <a:latin typeface="Calibri"/>
              </a:rPr>
              <a:t>→</a:t>
            </a:r>
          </a:p>
        </p:txBody>
      </p:sp>
      <p:sp>
        <p:nvSpPr>
          <p:cNvPr id="14" name="Rectangle 13"/>
          <p:cNvSpPr/>
          <p:nvPr/>
        </p:nvSpPr>
        <p:spPr>
          <a:xfrm>
            <a:off x="2770632" y="1463040"/>
            <a:ext cx="2103120" cy="10058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70632" y="1536192"/>
            <a:ext cx="2103120" cy="292608"/>
          </a:xfrm>
          <a:prstGeom prst="rect">
            <a:avLst/>
          </a:prstGeom>
          <a:noFill/>
        </p:spPr>
        <p:txBody>
          <a:bodyPr wrap="square">
            <a:spAutoFit/>
          </a:bodyPr>
          <a:lstStyle/>
          <a:p>
            <a:pPr algn="ctr"/>
            <a:r>
              <a:rPr sz="1000" b="1" i="0">
                <a:solidFill>
                  <a:srgbClr val="FFFFFF"/>
                </a:solidFill>
                <a:latin typeface="Calibri"/>
              </a:rPr>
              <a:t>Carrier Removal</a:t>
            </a:r>
          </a:p>
        </p:txBody>
      </p:sp>
      <p:sp>
        <p:nvSpPr>
          <p:cNvPr id="16" name="TextBox 15"/>
          <p:cNvSpPr txBox="1"/>
          <p:nvPr/>
        </p:nvSpPr>
        <p:spPr>
          <a:xfrm>
            <a:off x="2770632" y="1847088"/>
            <a:ext cx="2103120" cy="585216"/>
          </a:xfrm>
          <a:prstGeom prst="rect">
            <a:avLst/>
          </a:prstGeom>
          <a:noFill/>
        </p:spPr>
        <p:txBody>
          <a:bodyPr wrap="square">
            <a:spAutoFit/>
          </a:bodyPr>
          <a:lstStyle/>
          <a:p>
            <a:pPr algn="ctr"/>
            <a:r>
              <a:rPr sz="850" b="0" i="0">
                <a:solidFill>
                  <a:srgbClr val="FFFFFF"/>
                </a:solidFill>
                <a:latin typeface="Calibri"/>
              </a:rPr>
              <a:t>Solvents and carriers
without sensory value
are zeroed out</a:t>
            </a:r>
          </a:p>
        </p:txBody>
      </p:sp>
      <p:sp>
        <p:nvSpPr>
          <p:cNvPr id="17" name="TextBox 16"/>
          <p:cNvSpPr txBox="1"/>
          <p:nvPr/>
        </p:nvSpPr>
        <p:spPr>
          <a:xfrm>
            <a:off x="4892040" y="1737360"/>
            <a:ext cx="201168" cy="347472"/>
          </a:xfrm>
          <a:prstGeom prst="rect">
            <a:avLst/>
          </a:prstGeom>
          <a:noFill/>
        </p:spPr>
        <p:txBody>
          <a:bodyPr wrap="square">
            <a:spAutoFit/>
          </a:bodyPr>
          <a:lstStyle/>
          <a:p>
            <a:pPr algn="ctr"/>
            <a:r>
              <a:rPr sz="1800" b="1" i="0">
                <a:solidFill>
                  <a:srgbClr val="1B3A5C"/>
                </a:solidFill>
                <a:latin typeface="Calibri"/>
              </a:rPr>
              <a:t>→</a:t>
            </a:r>
          </a:p>
        </p:txBody>
      </p:sp>
      <p:sp>
        <p:nvSpPr>
          <p:cNvPr id="18" name="Rectangle 17"/>
          <p:cNvSpPr/>
          <p:nvPr/>
        </p:nvSpPr>
        <p:spPr>
          <a:xfrm>
            <a:off x="5129784" y="1463040"/>
            <a:ext cx="2103120" cy="100584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9784" y="1536192"/>
            <a:ext cx="2103120" cy="292608"/>
          </a:xfrm>
          <a:prstGeom prst="rect">
            <a:avLst/>
          </a:prstGeom>
          <a:noFill/>
        </p:spPr>
        <p:txBody>
          <a:bodyPr wrap="square">
            <a:spAutoFit/>
          </a:bodyPr>
          <a:lstStyle/>
          <a:p>
            <a:pPr algn="ctr"/>
            <a:r>
              <a:rPr sz="1000" b="1" i="0">
                <a:solidFill>
                  <a:srgbClr val="FFFFFF"/>
                </a:solidFill>
                <a:latin typeface="Calibri"/>
              </a:rPr>
              <a:t>Normalization</a:t>
            </a:r>
          </a:p>
        </p:txBody>
      </p:sp>
      <p:sp>
        <p:nvSpPr>
          <p:cNvPr id="20" name="TextBox 19"/>
          <p:cNvSpPr txBox="1"/>
          <p:nvPr/>
        </p:nvSpPr>
        <p:spPr>
          <a:xfrm>
            <a:off x="5129784" y="1847088"/>
            <a:ext cx="2103120" cy="585216"/>
          </a:xfrm>
          <a:prstGeom prst="rect">
            <a:avLst/>
          </a:prstGeom>
          <a:noFill/>
        </p:spPr>
        <p:txBody>
          <a:bodyPr wrap="square">
            <a:spAutoFit/>
          </a:bodyPr>
          <a:lstStyle/>
          <a:p>
            <a:pPr algn="ctr"/>
            <a:r>
              <a:rPr sz="850" b="0" i="0">
                <a:solidFill>
                  <a:srgbClr val="FFFFFF"/>
                </a:solidFill>
                <a:latin typeface="Calibri"/>
              </a:rPr>
              <a:t>Ingredient amounts
normalized per recipe
for fair comparison</a:t>
            </a:r>
          </a:p>
        </p:txBody>
      </p:sp>
      <p:sp>
        <p:nvSpPr>
          <p:cNvPr id="21" name="TextBox 20"/>
          <p:cNvSpPr txBox="1"/>
          <p:nvPr/>
        </p:nvSpPr>
        <p:spPr>
          <a:xfrm>
            <a:off x="7251192" y="1737360"/>
            <a:ext cx="201168" cy="347472"/>
          </a:xfrm>
          <a:prstGeom prst="rect">
            <a:avLst/>
          </a:prstGeom>
          <a:noFill/>
        </p:spPr>
        <p:txBody>
          <a:bodyPr wrap="square">
            <a:spAutoFit/>
          </a:bodyPr>
          <a:lstStyle/>
          <a:p>
            <a:pPr algn="ctr"/>
            <a:r>
              <a:rPr sz="1800" b="1" i="0">
                <a:solidFill>
                  <a:srgbClr val="1B3A5C"/>
                </a:solidFill>
                <a:latin typeface="Calibri"/>
              </a:rPr>
              <a:t>→</a:t>
            </a:r>
          </a:p>
        </p:txBody>
      </p:sp>
      <p:sp>
        <p:nvSpPr>
          <p:cNvPr id="22" name="Rectangle 21"/>
          <p:cNvSpPr/>
          <p:nvPr/>
        </p:nvSpPr>
        <p:spPr>
          <a:xfrm>
            <a:off x="7488936" y="1463040"/>
            <a:ext cx="2103120" cy="100584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88936" y="1536192"/>
            <a:ext cx="2103120" cy="292608"/>
          </a:xfrm>
          <a:prstGeom prst="rect">
            <a:avLst/>
          </a:prstGeom>
          <a:noFill/>
        </p:spPr>
        <p:txBody>
          <a:bodyPr wrap="square">
            <a:spAutoFit/>
          </a:bodyPr>
          <a:lstStyle/>
          <a:p>
            <a:pPr algn="ctr"/>
            <a:r>
              <a:rPr sz="1000" b="1" i="0">
                <a:solidFill>
                  <a:srgbClr val="FFFFFF"/>
                </a:solidFill>
                <a:latin typeface="Calibri"/>
              </a:rPr>
              <a:t>Cluster &amp; Validate</a:t>
            </a:r>
          </a:p>
        </p:txBody>
      </p:sp>
      <p:sp>
        <p:nvSpPr>
          <p:cNvPr id="24" name="TextBox 23"/>
          <p:cNvSpPr txBox="1"/>
          <p:nvPr/>
        </p:nvSpPr>
        <p:spPr>
          <a:xfrm>
            <a:off x="7488936" y="1847088"/>
            <a:ext cx="2103120" cy="585216"/>
          </a:xfrm>
          <a:prstGeom prst="rect">
            <a:avLst/>
          </a:prstGeom>
          <a:noFill/>
        </p:spPr>
        <p:txBody>
          <a:bodyPr wrap="square">
            <a:spAutoFit/>
          </a:bodyPr>
          <a:lstStyle/>
          <a:p>
            <a:pPr algn="ctr"/>
            <a:r>
              <a:rPr sz="850" b="0" i="0">
                <a:solidFill>
                  <a:srgbClr val="FFFFFF"/>
                </a:solidFill>
                <a:latin typeface="Calibri"/>
              </a:rPr>
              <a:t>Multiple classification
strategies applied;
28 recipes blind-tasted</a:t>
            </a:r>
          </a:p>
        </p:txBody>
      </p:sp>
      <p:sp>
        <p:nvSpPr>
          <p:cNvPr id="25" name="TextBox 24"/>
          <p:cNvSpPr txBox="1"/>
          <p:nvPr/>
        </p:nvSpPr>
        <p:spPr>
          <a:xfrm>
            <a:off x="9610344" y="1737360"/>
            <a:ext cx="201168" cy="347472"/>
          </a:xfrm>
          <a:prstGeom prst="rect">
            <a:avLst/>
          </a:prstGeom>
          <a:noFill/>
        </p:spPr>
        <p:txBody>
          <a:bodyPr wrap="square">
            <a:spAutoFit/>
          </a:bodyPr>
          <a:lstStyle/>
          <a:p>
            <a:pPr algn="ctr"/>
            <a:r>
              <a:rPr sz="1800" b="1" i="0">
                <a:solidFill>
                  <a:srgbClr val="1B3A5C"/>
                </a:solidFill>
                <a:latin typeface="Calibri"/>
              </a:rPr>
              <a:t>→</a:t>
            </a:r>
          </a:p>
        </p:txBody>
      </p:sp>
      <p:sp>
        <p:nvSpPr>
          <p:cNvPr id="26" name="Rectangle 25"/>
          <p:cNvSpPr/>
          <p:nvPr/>
        </p:nvSpPr>
        <p:spPr>
          <a:xfrm>
            <a:off x="9848088" y="1463040"/>
            <a:ext cx="2103120" cy="1005840"/>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48088" y="1536192"/>
            <a:ext cx="2103120" cy="292608"/>
          </a:xfrm>
          <a:prstGeom prst="rect">
            <a:avLst/>
          </a:prstGeom>
          <a:noFill/>
        </p:spPr>
        <p:txBody>
          <a:bodyPr wrap="square">
            <a:spAutoFit/>
          </a:bodyPr>
          <a:lstStyle/>
          <a:p>
            <a:pPr algn="ctr"/>
            <a:r>
              <a:rPr sz="1000" b="1" i="0">
                <a:solidFill>
                  <a:srgbClr val="FFFFFF"/>
                </a:solidFill>
                <a:latin typeface="Calibri"/>
              </a:rPr>
              <a:t>Clean Label Set</a:t>
            </a:r>
          </a:p>
        </p:txBody>
      </p:sp>
      <p:sp>
        <p:nvSpPr>
          <p:cNvPr id="28" name="TextBox 27"/>
          <p:cNvSpPr txBox="1"/>
          <p:nvPr/>
        </p:nvSpPr>
        <p:spPr>
          <a:xfrm>
            <a:off x="9848088" y="1847088"/>
            <a:ext cx="2103120" cy="585216"/>
          </a:xfrm>
          <a:prstGeom prst="rect">
            <a:avLst/>
          </a:prstGeom>
          <a:noFill/>
        </p:spPr>
        <p:txBody>
          <a:bodyPr wrap="square">
            <a:spAutoFit/>
          </a:bodyPr>
          <a:lstStyle/>
          <a:p>
            <a:pPr algn="ctr"/>
            <a:r>
              <a:rPr b="0" sz="850">
                <a:solidFill>
                  <a:srgbClr val="FFFFFF"/>
                </a:solidFill>
              </a:rPr>
              <a:t>Only panel-confirmed
recipes used to build
final ingredient profiles</a:t>
            </a:r>
          </a:p>
        </p:txBody>
      </p:sp>
      <p:sp>
        <p:nvSpPr>
          <p:cNvPr id="29" name="TextBox 28"/>
          <p:cNvSpPr txBox="1"/>
          <p:nvPr/>
        </p:nvSpPr>
        <p:spPr>
          <a:xfrm>
            <a:off x="411480" y="2670048"/>
            <a:ext cx="7315200" cy="237744"/>
          </a:xfrm>
          <a:prstGeom prst="rect">
            <a:avLst/>
          </a:prstGeom>
          <a:noFill/>
        </p:spPr>
        <p:txBody>
          <a:bodyPr wrap="square">
            <a:spAutoFit/>
          </a:bodyPr>
          <a:lstStyle/>
          <a:p>
            <a:pPr algn="l"/>
            <a:r>
              <a:rPr sz="800" b="1" i="0">
                <a:solidFill>
                  <a:srgbClr val="E67E22"/>
                </a:solidFill>
                <a:latin typeface="Calibri"/>
              </a:rPr>
              <a:t>ITERATIVE OUTLIER REMOVAL</a:t>
            </a:r>
          </a:p>
        </p:txBody>
      </p:sp>
      <p:sp>
        <p:nvSpPr>
          <p:cNvPr id="30" name="Rectangle 29"/>
          <p:cNvSpPr/>
          <p:nvPr/>
        </p:nvSpPr>
        <p:spPr>
          <a:xfrm>
            <a:off x="411480" y="2907792"/>
            <a:ext cx="11338560" cy="10972"/>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11480" y="2999232"/>
            <a:ext cx="3749039" cy="239572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11480" y="2999232"/>
            <a:ext cx="41148" cy="2395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9496" y="3090672"/>
            <a:ext cx="3511296" cy="256032"/>
          </a:xfrm>
          <a:prstGeom prst="rect">
            <a:avLst/>
          </a:prstGeom>
          <a:noFill/>
        </p:spPr>
        <p:txBody>
          <a:bodyPr wrap="square">
            <a:spAutoFit/>
          </a:bodyPr>
          <a:lstStyle/>
          <a:p>
            <a:pPr algn="l"/>
            <a:r>
              <a:rPr sz="1050" b="1" i="0">
                <a:solidFill>
                  <a:srgbClr val="2C3E50"/>
                </a:solidFill>
                <a:latin typeface="Calibri"/>
              </a:rPr>
              <a:t>Carrier and Solvent Exclusion</a:t>
            </a:r>
          </a:p>
        </p:txBody>
      </p:sp>
      <p:sp>
        <p:nvSpPr>
          <p:cNvPr id="34" name="TextBox 33"/>
          <p:cNvSpPr txBox="1"/>
          <p:nvPr/>
        </p:nvSpPr>
        <p:spPr>
          <a:xfrm>
            <a:off x="539496" y="3383280"/>
            <a:ext cx="3511296" cy="1920240"/>
          </a:xfrm>
          <a:prstGeom prst="rect">
            <a:avLst/>
          </a:prstGeom>
          <a:noFill/>
        </p:spPr>
        <p:txBody>
          <a:bodyPr wrap="square">
            <a:spAutoFit/>
          </a:bodyPr>
          <a:lstStyle/>
          <a:p>
            <a:pPr algn="l"/>
            <a:r>
              <a:rPr sz="950" b="0" i="0">
                <a:solidFill>
                  <a:srgbClr val="666666"/>
                </a:solidFill>
                <a:latin typeface="Calibri"/>
              </a:rPr>
              <a:t>Raw recipes contain propylene glycol, water, ethanol and other carrier substances that dominate volume but carry no sensory information. These are identified and excluded before any analysis begins, preventing the system from clustering around carrier composition rather than aroma.</a:t>
            </a:r>
          </a:p>
        </p:txBody>
      </p:sp>
      <p:sp>
        <p:nvSpPr>
          <p:cNvPr id="35" name="Rectangle 34"/>
          <p:cNvSpPr/>
          <p:nvPr/>
        </p:nvSpPr>
        <p:spPr>
          <a:xfrm>
            <a:off x="4343400" y="2999232"/>
            <a:ext cx="3749039" cy="239572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343400" y="2999232"/>
            <a:ext cx="41148" cy="239572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71416" y="3090672"/>
            <a:ext cx="3511296" cy="256032"/>
          </a:xfrm>
          <a:prstGeom prst="rect">
            <a:avLst/>
          </a:prstGeom>
          <a:noFill/>
        </p:spPr>
        <p:txBody>
          <a:bodyPr wrap="square">
            <a:spAutoFit/>
          </a:bodyPr>
          <a:lstStyle/>
          <a:p>
            <a:pPr algn="l"/>
            <a:r>
              <a:rPr b="1" sz="1050">
                <a:solidFill>
                  <a:srgbClr val="2C3E50"/>
                </a:solidFill>
              </a:rPr>
              <a:t>Building a Reference Recipe for Each Flavor Type</a:t>
            </a:r>
          </a:p>
        </p:txBody>
      </p:sp>
      <p:sp>
        <p:nvSpPr>
          <p:cNvPr id="38" name="TextBox 37"/>
          <p:cNvSpPr txBox="1"/>
          <p:nvPr/>
        </p:nvSpPr>
        <p:spPr>
          <a:xfrm>
            <a:off x="4471416" y="3383280"/>
            <a:ext cx="3511296" cy="1920240"/>
          </a:xfrm>
          <a:prstGeom prst="rect">
            <a:avLst/>
          </a:prstGeom>
          <a:noFill/>
        </p:spPr>
        <p:txBody>
          <a:bodyPr wrap="square">
            <a:spAutoFit/>
          </a:bodyPr>
          <a:lstStyle/>
          <a:p>
            <a:pPr algn="l"/>
            <a:r>
              <a:rPr b="0" sz="950">
                <a:solidFill>
                  <a:srgbClr val="666666"/>
                </a:solidFill>
              </a:rPr>
              <a:t>For each flavor type, we define a reference recipe based on the typical ingredient amounts from panel-confirmed examples. This ensures each type is defined by what makes it truly distinctive, not by what all recipes share in common.</a:t>
            </a:r>
          </a:p>
        </p:txBody>
      </p:sp>
      <p:sp>
        <p:nvSpPr>
          <p:cNvPr id="39" name="Rectangle 38"/>
          <p:cNvSpPr/>
          <p:nvPr/>
        </p:nvSpPr>
        <p:spPr>
          <a:xfrm>
            <a:off x="8275319" y="2999232"/>
            <a:ext cx="3749039" cy="239572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275319" y="2999232"/>
            <a:ext cx="41148" cy="2395728"/>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03335" y="3090672"/>
            <a:ext cx="3511296" cy="256032"/>
          </a:xfrm>
          <a:prstGeom prst="rect">
            <a:avLst/>
          </a:prstGeom>
          <a:noFill/>
        </p:spPr>
        <p:txBody>
          <a:bodyPr wrap="square">
            <a:spAutoFit/>
          </a:bodyPr>
          <a:lstStyle/>
          <a:p>
            <a:pPr algn="l"/>
            <a:r>
              <a:rPr sz="1050" b="1" i="0">
                <a:solidFill>
                  <a:srgbClr val="2C3E50"/>
                </a:solidFill>
                <a:latin typeface="Calibri"/>
              </a:rPr>
              <a:t>Panel Disagreement as a Quality Signal</a:t>
            </a:r>
          </a:p>
        </p:txBody>
      </p:sp>
      <p:sp>
        <p:nvSpPr>
          <p:cNvPr id="42" name="TextBox 41"/>
          <p:cNvSpPr txBox="1"/>
          <p:nvPr/>
        </p:nvSpPr>
        <p:spPr>
          <a:xfrm>
            <a:off x="8403335" y="3383280"/>
            <a:ext cx="3511296" cy="1920240"/>
          </a:xfrm>
          <a:prstGeom prst="rect">
            <a:avLst/>
          </a:prstGeom>
          <a:noFill/>
        </p:spPr>
        <p:txBody>
          <a:bodyPr wrap="square">
            <a:spAutoFit/>
          </a:bodyPr>
          <a:lstStyle/>
          <a:p>
            <a:pPr algn="l"/>
            <a:r>
              <a:rPr b="0" sz="950">
                <a:solidFill>
                  <a:srgbClr val="666666"/>
                </a:solidFill>
              </a:rPr>
              <a:t>Recipes where our two classification methods disagree, or where the sensory panel returned a split verdict, are flagged and excluded when building the ingredient profiles. This iterative loop, classify then taste then refine, progressively improves the quality of cluster definitions over time.</a:t>
            </a:r>
          </a:p>
        </p:txBody>
      </p:sp>
      <p:sp>
        <p:nvSpPr>
          <p:cNvPr id="43" name="Rectangle 42"/>
          <p:cNvSpPr/>
          <p:nvPr/>
        </p:nvSpPr>
        <p:spPr>
          <a:xfrm>
            <a:off x="411480" y="5532120"/>
            <a:ext cx="11338560" cy="768096"/>
          </a:xfrm>
          <a:prstGeom prst="rect">
            <a:avLst/>
          </a:prstGeom>
          <a:solidFill>
            <a:srgbClr val="E9F7EF"/>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11480" y="5532120"/>
            <a:ext cx="41148" cy="768096"/>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66928" y="5586984"/>
            <a:ext cx="2011680" cy="219456"/>
          </a:xfrm>
          <a:prstGeom prst="rect">
            <a:avLst/>
          </a:prstGeom>
          <a:noFill/>
        </p:spPr>
        <p:txBody>
          <a:bodyPr wrap="square">
            <a:spAutoFit/>
          </a:bodyPr>
          <a:lstStyle/>
          <a:p>
            <a:pPr algn="l"/>
            <a:r>
              <a:rPr sz="800" b="1" i="0">
                <a:solidFill>
                  <a:srgbClr val="17A589"/>
                </a:solidFill>
                <a:latin typeface="Calibri"/>
              </a:rPr>
              <a:t>WHY IT MATTERS</a:t>
            </a:r>
          </a:p>
        </p:txBody>
      </p:sp>
      <p:sp>
        <p:nvSpPr>
          <p:cNvPr id="46" name="TextBox 45"/>
          <p:cNvSpPr txBox="1"/>
          <p:nvPr/>
        </p:nvSpPr>
        <p:spPr>
          <a:xfrm>
            <a:off x="566928" y="5815584"/>
            <a:ext cx="11064240" cy="438912"/>
          </a:xfrm>
          <a:prstGeom prst="rect">
            <a:avLst/>
          </a:prstGeom>
          <a:noFill/>
        </p:spPr>
        <p:txBody>
          <a:bodyPr wrap="square">
            <a:spAutoFit/>
          </a:bodyPr>
          <a:lstStyle/>
          <a:p>
            <a:pPr algn="l"/>
            <a:r>
              <a:rPr b="0" sz="1000">
                <a:solidFill>
                  <a:srgbClr val="2C3E50"/>
                </a:solidFill>
              </a:rPr>
              <a:t>Analyzing only panel-confirmed recipes produces clearer ingredient profiles and more reliable formulation proposals. The better our input labels, the better our first formulation.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28016"/>
            <a:ext cx="10972800" cy="256032"/>
          </a:xfrm>
          <a:prstGeom prst="rect">
            <a:avLst/>
          </a:prstGeom>
          <a:noFill/>
        </p:spPr>
        <p:txBody>
          <a:bodyPr wrap="square">
            <a:spAutoFit/>
          </a:bodyPr>
          <a:lstStyle/>
          <a:p>
            <a:pPr algn="l"/>
            <a:r>
              <a:rPr sz="800" b="1" i="0">
                <a:solidFill>
                  <a:srgbClr val="AABBCC"/>
                </a:solidFill>
                <a:latin typeface="Calibri"/>
              </a:rPr>
              <a:t>03 / METHODOLOGY: EXPERT KNOWLEDGE</a:t>
            </a:r>
          </a:p>
        </p:txBody>
      </p:sp>
      <p:sp>
        <p:nvSpPr>
          <p:cNvPr id="4" name="TextBox 3"/>
          <p:cNvSpPr txBox="1"/>
          <p:nvPr/>
        </p:nvSpPr>
        <p:spPr>
          <a:xfrm>
            <a:off x="411480" y="347472"/>
            <a:ext cx="10972800" cy="658368"/>
          </a:xfrm>
          <a:prstGeom prst="rect">
            <a:avLst/>
          </a:prstGeom>
          <a:noFill/>
        </p:spPr>
        <p:txBody>
          <a:bodyPr wrap="square">
            <a:spAutoFit/>
          </a:bodyPr>
          <a:lstStyle/>
          <a:p>
            <a:pPr algn="l"/>
            <a:r>
              <a:rPr sz="2600" b="1" i="0">
                <a:solidFill>
                  <a:srgbClr val="FFFFFF"/>
                </a:solidFill>
                <a:latin typeface="Calibri"/>
              </a:rPr>
              <a:t>Embedding Flavorist Expertise into Automated Classification</a:t>
            </a:r>
          </a:p>
        </p:txBody>
      </p:sp>
      <p:sp>
        <p:nvSpPr>
          <p:cNvPr id="5" name="TextBox 4"/>
          <p:cNvSpPr txBox="1"/>
          <p:nvPr/>
        </p:nvSpPr>
        <p:spPr>
          <a:xfrm>
            <a:off x="411480" y="960120"/>
            <a:ext cx="10972800" cy="274320"/>
          </a:xfrm>
          <a:prstGeom prst="rect">
            <a:avLst/>
          </a:prstGeom>
          <a:noFill/>
        </p:spPr>
        <p:txBody>
          <a:bodyPr wrap="square">
            <a:spAutoFit/>
          </a:bodyPr>
          <a:lstStyle/>
          <a:p>
            <a:pPr algn="l"/>
            <a:r>
              <a:rPr sz="1100" b="0" i="1">
                <a:solidFill>
                  <a:srgbClr val="CCDDEE"/>
                </a:solidFill>
                <a:latin typeface="Calibri"/>
              </a:rPr>
              <a:t>How expert rules and sensory intuition are structured into the system</a:t>
            </a:r>
          </a:p>
        </p:txBody>
      </p:sp>
      <p:sp>
        <p:nvSpPr>
          <p:cNvPr id="6" name="Rectangle 5"/>
          <p:cNvSpPr/>
          <p:nvPr/>
        </p:nvSpPr>
        <p:spPr>
          <a:xfrm>
            <a:off x="0" y="6510528"/>
            <a:ext cx="12188952" cy="347472"/>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10528"/>
            <a:ext cx="36576" cy="3474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56248"/>
            <a:ext cx="8229600" cy="228600"/>
          </a:xfrm>
          <a:prstGeom prst="rect">
            <a:avLst/>
          </a:prstGeom>
          <a:noFill/>
        </p:spPr>
        <p:txBody>
          <a:bodyPr wrap="square">
            <a:spAutoFit/>
          </a:bodyPr>
          <a:lstStyle/>
          <a:p>
            <a:pPr algn="l"/>
            <a:r>
              <a:rPr sz="750" b="0" i="0">
                <a:solidFill>
                  <a:srgbClr val="666666"/>
                </a:solidFill>
                <a:latin typeface="Calibri"/>
              </a:rPr>
              <a:t>TAIsty  |  AI-Assisted Flavor Development  |  Status July 2026  |  Confidential</a:t>
            </a:r>
          </a:p>
        </p:txBody>
      </p:sp>
      <p:sp>
        <p:nvSpPr>
          <p:cNvPr id="9" name="TextBox 8"/>
          <p:cNvSpPr txBox="1"/>
          <p:nvPr/>
        </p:nvSpPr>
        <p:spPr>
          <a:xfrm>
            <a:off x="8686800" y="6556248"/>
            <a:ext cx="3291840" cy="228600"/>
          </a:xfrm>
          <a:prstGeom prst="rect">
            <a:avLst/>
          </a:prstGeom>
          <a:noFill/>
        </p:spPr>
        <p:txBody>
          <a:bodyPr wrap="square">
            <a:spAutoFit/>
          </a:bodyPr>
          <a:lstStyle/>
          <a:p>
            <a:pPr algn="r"/>
            <a:r>
              <a:rPr sz="750" b="0" i="0">
                <a:solidFill>
                  <a:srgbClr val="666666"/>
                </a:solidFill>
                <a:latin typeface="Calibri"/>
              </a:rPr>
              <a:t>3 / 5</a:t>
            </a:r>
          </a:p>
        </p:txBody>
      </p:sp>
      <p:sp>
        <p:nvSpPr>
          <p:cNvPr id="10" name="TextBox 9"/>
          <p:cNvSpPr txBox="1"/>
          <p:nvPr/>
        </p:nvSpPr>
        <p:spPr>
          <a:xfrm>
            <a:off x="411480" y="1389888"/>
            <a:ext cx="5486400" cy="237744"/>
          </a:xfrm>
          <a:prstGeom prst="rect">
            <a:avLst/>
          </a:prstGeom>
          <a:noFill/>
        </p:spPr>
        <p:txBody>
          <a:bodyPr wrap="square">
            <a:spAutoFit/>
          </a:bodyPr>
          <a:lstStyle/>
          <a:p>
            <a:pPr algn="l"/>
            <a:r>
              <a:rPr sz="800" b="1" i="0">
                <a:solidFill>
                  <a:srgbClr val="2E86C1"/>
                </a:solidFill>
                <a:latin typeface="Calibri"/>
              </a:rPr>
              <a:t>RULE-BASED CLASSIFICATION</a:t>
            </a:r>
          </a:p>
        </p:txBody>
      </p:sp>
      <p:sp>
        <p:nvSpPr>
          <p:cNvPr id="11" name="Rectangle 10"/>
          <p:cNvSpPr/>
          <p:nvPr/>
        </p:nvSpPr>
        <p:spPr>
          <a:xfrm>
            <a:off x="411480" y="1627632"/>
            <a:ext cx="5486400" cy="4224528"/>
          </a:xfrm>
          <a:prstGeom prst="rect">
            <a:avLst/>
          </a:prstGeom>
          <a:solidFill>
            <a:srgbClr val="EBF5FB"/>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1480" y="1627632"/>
            <a:ext cx="41148" cy="42245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700784"/>
            <a:ext cx="5193792" cy="658368"/>
          </a:xfrm>
          <a:prstGeom prst="rect">
            <a:avLst/>
          </a:prstGeom>
          <a:noFill/>
        </p:spPr>
        <p:txBody>
          <a:bodyPr wrap="square">
            <a:spAutoFit/>
          </a:bodyPr>
          <a:lstStyle/>
          <a:p>
            <a:pPr algn="l"/>
            <a:r>
              <a:rPr sz="1000" b="0" i="0">
                <a:solidFill>
                  <a:srgbClr val="2C3E50"/>
                </a:solidFill>
                <a:latin typeface="Calibri"/>
              </a:rPr>
              <a:t>Flavorist expertise is translated into a structured rule library, maintained and updated directly by flavor experts. Any rule change takes effect immediately across the entire portfolio without system intervention.</a:t>
            </a:r>
          </a:p>
        </p:txBody>
      </p:sp>
      <p:sp>
        <p:nvSpPr>
          <p:cNvPr id="14" name="Rectangle 13"/>
          <p:cNvSpPr/>
          <p:nvPr/>
        </p:nvSpPr>
        <p:spPr>
          <a:xfrm>
            <a:off x="566928" y="2432304"/>
            <a:ext cx="5166360" cy="74980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2432304"/>
            <a:ext cx="36576" cy="74980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487168"/>
            <a:ext cx="4892040" cy="219456"/>
          </a:xfrm>
          <a:prstGeom prst="rect">
            <a:avLst/>
          </a:prstGeom>
          <a:noFill/>
        </p:spPr>
        <p:txBody>
          <a:bodyPr wrap="square">
            <a:spAutoFit/>
          </a:bodyPr>
          <a:lstStyle/>
          <a:p>
            <a:pPr algn="l"/>
            <a:r>
              <a:rPr sz="950" b="1" i="0">
                <a:solidFill>
                  <a:srgbClr val="2C3E50"/>
                </a:solidFill>
                <a:latin typeface="Calibri"/>
              </a:rPr>
              <a:t>Concentration Threshold Rule  (highest priority)</a:t>
            </a:r>
          </a:p>
        </p:txBody>
      </p:sp>
      <p:sp>
        <p:nvSpPr>
          <p:cNvPr id="17" name="TextBox 16"/>
          <p:cNvSpPr txBox="1"/>
          <p:nvPr/>
        </p:nvSpPr>
        <p:spPr>
          <a:xfrm>
            <a:off x="713232" y="2724912"/>
            <a:ext cx="4892040" cy="420624"/>
          </a:xfrm>
          <a:prstGeom prst="rect">
            <a:avLst/>
          </a:prstGeom>
          <a:noFill/>
        </p:spPr>
        <p:txBody>
          <a:bodyPr wrap="square">
            <a:spAutoFit/>
          </a:bodyPr>
          <a:lstStyle/>
          <a:p>
            <a:pPr algn="l"/>
            <a:r>
              <a:rPr sz="900" b="0" i="0">
                <a:solidFill>
                  <a:srgbClr val="666666"/>
                </a:solidFill>
                <a:latin typeface="Calibri"/>
              </a:rPr>
              <a:t>A marker ingredient must exceed a defined concentration level. Fires when a signature compound is clearly present. Example: key strawberry ester above threshold unambiguously signals the warm archetype.</a:t>
            </a:r>
          </a:p>
        </p:txBody>
      </p:sp>
      <p:sp>
        <p:nvSpPr>
          <p:cNvPr id="18" name="Rectangle 17"/>
          <p:cNvSpPr/>
          <p:nvPr/>
        </p:nvSpPr>
        <p:spPr>
          <a:xfrm>
            <a:off x="566928" y="3273552"/>
            <a:ext cx="5166360" cy="74980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273552"/>
            <a:ext cx="36576" cy="749808"/>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3328416"/>
            <a:ext cx="4892040" cy="219456"/>
          </a:xfrm>
          <a:prstGeom prst="rect">
            <a:avLst/>
          </a:prstGeom>
          <a:noFill/>
        </p:spPr>
        <p:txBody>
          <a:bodyPr wrap="square">
            <a:spAutoFit/>
          </a:bodyPr>
          <a:lstStyle/>
          <a:p>
            <a:pPr algn="l"/>
            <a:r>
              <a:rPr sz="950" b="1" i="0">
                <a:solidFill>
                  <a:srgbClr val="2C3E50"/>
                </a:solidFill>
                <a:latin typeface="Calibri"/>
              </a:rPr>
              <a:t>All-Present Rule</a:t>
            </a:r>
          </a:p>
        </p:txBody>
      </p:sp>
      <p:sp>
        <p:nvSpPr>
          <p:cNvPr id="21" name="TextBox 20"/>
          <p:cNvSpPr txBox="1"/>
          <p:nvPr/>
        </p:nvSpPr>
        <p:spPr>
          <a:xfrm>
            <a:off x="713232" y="3566160"/>
            <a:ext cx="4892040" cy="420624"/>
          </a:xfrm>
          <a:prstGeom prst="rect">
            <a:avLst/>
          </a:prstGeom>
          <a:noFill/>
        </p:spPr>
        <p:txBody>
          <a:bodyPr wrap="square">
            <a:spAutoFit/>
          </a:bodyPr>
          <a:lstStyle/>
          <a:p>
            <a:pPr algn="l"/>
            <a:r>
              <a:rPr sz="900" b="0" i="0">
                <a:solidFill>
                  <a:srgbClr val="666666"/>
                </a:solidFill>
                <a:latin typeface="Calibri"/>
              </a:rPr>
              <a:t>Every ingredient in a defined compound group must be present. Captures multi-compound cluster signatures where the combination matters, not any single ingredient alone.</a:t>
            </a:r>
          </a:p>
        </p:txBody>
      </p:sp>
      <p:sp>
        <p:nvSpPr>
          <p:cNvPr id="22" name="Rectangle 21"/>
          <p:cNvSpPr/>
          <p:nvPr/>
        </p:nvSpPr>
        <p:spPr>
          <a:xfrm>
            <a:off x="566928" y="4114800"/>
            <a:ext cx="5166360" cy="74980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4114800"/>
            <a:ext cx="36576" cy="74980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4169664"/>
            <a:ext cx="4892040" cy="219456"/>
          </a:xfrm>
          <a:prstGeom prst="rect">
            <a:avLst/>
          </a:prstGeom>
          <a:noFill/>
        </p:spPr>
        <p:txBody>
          <a:bodyPr wrap="square">
            <a:spAutoFit/>
          </a:bodyPr>
          <a:lstStyle/>
          <a:p>
            <a:pPr algn="l"/>
            <a:r>
              <a:rPr sz="950" b="1" i="0">
                <a:solidFill>
                  <a:srgbClr val="2C3E50"/>
                </a:solidFill>
                <a:latin typeface="Calibri"/>
              </a:rPr>
              <a:t>Any-Present Rule  (soft signal)</a:t>
            </a:r>
          </a:p>
        </p:txBody>
      </p:sp>
      <p:sp>
        <p:nvSpPr>
          <p:cNvPr id="25" name="TextBox 24"/>
          <p:cNvSpPr txBox="1"/>
          <p:nvPr/>
        </p:nvSpPr>
        <p:spPr>
          <a:xfrm>
            <a:off x="713232" y="4407408"/>
            <a:ext cx="4892040" cy="420624"/>
          </a:xfrm>
          <a:prstGeom prst="rect">
            <a:avLst/>
          </a:prstGeom>
          <a:noFill/>
        </p:spPr>
        <p:txBody>
          <a:bodyPr wrap="square">
            <a:spAutoFit/>
          </a:bodyPr>
          <a:lstStyle/>
          <a:p>
            <a:pPr algn="l"/>
            <a:r>
              <a:rPr sz="900" b="0" i="0">
                <a:solidFill>
                  <a:srgbClr val="666666"/>
                </a:solidFill>
                <a:latin typeface="Calibri"/>
              </a:rPr>
              <a:t>Any one of a list of characteristic ingredients triggers the rule. Used for optional markers that strengthen an archetype signal without being mandatory.</a:t>
            </a:r>
          </a:p>
        </p:txBody>
      </p:sp>
      <p:sp>
        <p:nvSpPr>
          <p:cNvPr id="26" name="Rectangle 25"/>
          <p:cNvSpPr/>
          <p:nvPr/>
        </p:nvSpPr>
        <p:spPr>
          <a:xfrm>
            <a:off x="566928" y="4956048"/>
            <a:ext cx="5166360" cy="74980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4956048"/>
            <a:ext cx="36576" cy="749808"/>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5010912"/>
            <a:ext cx="4892040" cy="219456"/>
          </a:xfrm>
          <a:prstGeom prst="rect">
            <a:avLst/>
          </a:prstGeom>
          <a:noFill/>
        </p:spPr>
        <p:txBody>
          <a:bodyPr wrap="square">
            <a:spAutoFit/>
          </a:bodyPr>
          <a:lstStyle/>
          <a:p>
            <a:pPr algn="l"/>
            <a:r>
              <a:rPr sz="950" b="1" i="0">
                <a:solidFill>
                  <a:srgbClr val="2C3E50"/>
                </a:solidFill>
                <a:latin typeface="Calibri"/>
              </a:rPr>
              <a:t>Centroid Fallback</a:t>
            </a:r>
          </a:p>
        </p:txBody>
      </p:sp>
      <p:sp>
        <p:nvSpPr>
          <p:cNvPr id="29" name="TextBox 28"/>
          <p:cNvSpPr txBox="1"/>
          <p:nvPr/>
        </p:nvSpPr>
        <p:spPr>
          <a:xfrm>
            <a:off x="713232" y="5248656"/>
            <a:ext cx="4892040" cy="420624"/>
          </a:xfrm>
          <a:prstGeom prst="rect">
            <a:avLst/>
          </a:prstGeom>
          <a:noFill/>
        </p:spPr>
        <p:txBody>
          <a:bodyPr wrap="square">
            <a:spAutoFit/>
          </a:bodyPr>
          <a:lstStyle/>
          <a:p>
            <a:pPr algn="l"/>
            <a:r>
              <a:rPr sz="900" b="0" i="0">
                <a:solidFill>
                  <a:srgbClr val="666666"/>
                </a:solidFill>
                <a:latin typeface="Calibri"/>
              </a:rPr>
              <a:t>Recipes matching no explicit rule are assigned by proximity to the nearest archetype reference point, ensuring every recipe receives a classification.</a:t>
            </a:r>
          </a:p>
        </p:txBody>
      </p:sp>
      <p:sp>
        <p:nvSpPr>
          <p:cNvPr id="30" name="TextBox 29"/>
          <p:cNvSpPr txBox="1"/>
          <p:nvPr/>
        </p:nvSpPr>
        <p:spPr>
          <a:xfrm>
            <a:off x="6217920" y="1389888"/>
            <a:ext cx="5577840" cy="237744"/>
          </a:xfrm>
          <a:prstGeom prst="rect">
            <a:avLst/>
          </a:prstGeom>
          <a:noFill/>
        </p:spPr>
        <p:txBody>
          <a:bodyPr wrap="square">
            <a:spAutoFit/>
          </a:bodyPr>
          <a:lstStyle/>
          <a:p>
            <a:pPr algn="l"/>
            <a:r>
              <a:rPr sz="800" b="1" i="0">
                <a:solidFill>
                  <a:srgbClr val="17A589"/>
                </a:solidFill>
                <a:latin typeface="Calibri"/>
              </a:rPr>
              <a:t>STATISTICAL LABEL PROPAGATION</a:t>
            </a:r>
          </a:p>
        </p:txBody>
      </p:sp>
      <p:sp>
        <p:nvSpPr>
          <p:cNvPr id="31" name="Rectangle 30"/>
          <p:cNvSpPr/>
          <p:nvPr/>
        </p:nvSpPr>
        <p:spPr>
          <a:xfrm>
            <a:off x="6217920" y="1627632"/>
            <a:ext cx="5577840" cy="2011680"/>
          </a:xfrm>
          <a:prstGeom prst="rect">
            <a:avLst/>
          </a:prstGeom>
          <a:solidFill>
            <a:srgbClr val="E9F7EF"/>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17920" y="1627632"/>
            <a:ext cx="41148" cy="201168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73368" y="1700784"/>
            <a:ext cx="5266944" cy="1828800"/>
          </a:xfrm>
          <a:prstGeom prst="rect">
            <a:avLst/>
          </a:prstGeom>
          <a:noFill/>
        </p:spPr>
        <p:txBody>
          <a:bodyPr wrap="square">
            <a:spAutoFit/>
          </a:bodyPr>
          <a:lstStyle/>
          <a:p>
            <a:pPr algn="l"/>
            <a:r>
              <a:rPr sz="1000" b="0" i="0">
                <a:solidFill>
                  <a:srgbClr val="2C3E50"/>
                </a:solidFill>
                <a:latin typeface="Calibri"/>
              </a:rPr>
              <a:t>Flavorist-validated anchor recipes are pinned to their archetype. Labels then propagate through a similarity network built over all 130 formulations, without assuming round or uniform cluster shapes. Recipes near multiple archetypes are assigned based on their full neighborhood context, mirroring how a flavorist would perceive a complex borderline case.</a:t>
            </a:r>
          </a:p>
        </p:txBody>
      </p:sp>
      <p:sp>
        <p:nvSpPr>
          <p:cNvPr id="34" name="TextBox 33"/>
          <p:cNvSpPr txBox="1"/>
          <p:nvPr/>
        </p:nvSpPr>
        <p:spPr>
          <a:xfrm>
            <a:off x="6373368" y="3749039"/>
            <a:ext cx="5266944" cy="237744"/>
          </a:xfrm>
          <a:prstGeom prst="rect">
            <a:avLst/>
          </a:prstGeom>
          <a:noFill/>
        </p:spPr>
        <p:txBody>
          <a:bodyPr wrap="square">
            <a:spAutoFit/>
          </a:bodyPr>
          <a:lstStyle/>
          <a:p>
            <a:pPr algn="l"/>
            <a:r>
              <a:rPr sz="1000" b="1" i="0">
                <a:solidFill>
                  <a:srgbClr val="2C3E50"/>
                </a:solidFill>
                <a:latin typeface="Calibri"/>
              </a:rPr>
              <a:t>THE 7 SENSORY ARCHETYPES</a:t>
            </a:r>
          </a:p>
        </p:txBody>
      </p:sp>
      <p:sp>
        <p:nvSpPr>
          <p:cNvPr id="35" name="Rectangle 34"/>
          <p:cNvSpPr/>
          <p:nvPr/>
        </p:nvSpPr>
        <p:spPr>
          <a:xfrm>
            <a:off x="6373368" y="4005072"/>
            <a:ext cx="146304" cy="25603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74536" y="4005072"/>
            <a:ext cx="914400" cy="237744"/>
          </a:xfrm>
          <a:prstGeom prst="rect">
            <a:avLst/>
          </a:prstGeom>
          <a:noFill/>
        </p:spPr>
        <p:txBody>
          <a:bodyPr wrap="square">
            <a:spAutoFit/>
          </a:bodyPr>
          <a:lstStyle/>
          <a:p>
            <a:pPr algn="l"/>
            <a:r>
              <a:rPr sz="950" b="1" i="0">
                <a:solidFill>
                  <a:srgbClr val="2C3E50"/>
                </a:solidFill>
                <a:latin typeface="Calibri"/>
              </a:rPr>
              <a:t>Warm:</a:t>
            </a:r>
          </a:p>
        </p:txBody>
      </p:sp>
      <p:sp>
        <p:nvSpPr>
          <p:cNvPr id="37" name="TextBox 36"/>
          <p:cNvSpPr txBox="1"/>
          <p:nvPr/>
        </p:nvSpPr>
        <p:spPr>
          <a:xfrm>
            <a:off x="7543800" y="4005072"/>
            <a:ext cx="1417320" cy="237744"/>
          </a:xfrm>
          <a:prstGeom prst="rect">
            <a:avLst/>
          </a:prstGeom>
          <a:noFill/>
        </p:spPr>
        <p:txBody>
          <a:bodyPr wrap="square">
            <a:spAutoFit/>
          </a:bodyPr>
          <a:lstStyle/>
          <a:p>
            <a:pPr algn="l"/>
            <a:r>
              <a:rPr sz="850" b="0" i="0">
                <a:solidFill>
                  <a:srgbClr val="666666"/>
                </a:solidFill>
                <a:latin typeface="Calibri"/>
              </a:rPr>
              <a:t>Caramel and jam character</a:t>
            </a:r>
          </a:p>
        </p:txBody>
      </p:sp>
      <p:sp>
        <p:nvSpPr>
          <p:cNvPr id="38" name="Rectangle 37"/>
          <p:cNvSpPr/>
          <p:nvPr/>
        </p:nvSpPr>
        <p:spPr>
          <a:xfrm>
            <a:off x="9070848" y="4005072"/>
            <a:ext cx="146304" cy="256032"/>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272016" y="4005072"/>
            <a:ext cx="914400" cy="237744"/>
          </a:xfrm>
          <a:prstGeom prst="rect">
            <a:avLst/>
          </a:prstGeom>
          <a:noFill/>
        </p:spPr>
        <p:txBody>
          <a:bodyPr wrap="square">
            <a:spAutoFit/>
          </a:bodyPr>
          <a:lstStyle/>
          <a:p>
            <a:pPr algn="l"/>
            <a:r>
              <a:rPr sz="950" b="1" i="0">
                <a:solidFill>
                  <a:srgbClr val="2C3E50"/>
                </a:solidFill>
                <a:latin typeface="Calibri"/>
              </a:rPr>
              <a:t>Floral:</a:t>
            </a:r>
          </a:p>
        </p:txBody>
      </p:sp>
      <p:sp>
        <p:nvSpPr>
          <p:cNvPr id="40" name="TextBox 39"/>
          <p:cNvSpPr txBox="1"/>
          <p:nvPr/>
        </p:nvSpPr>
        <p:spPr>
          <a:xfrm>
            <a:off x="10241280" y="4005072"/>
            <a:ext cx="1417320" cy="237744"/>
          </a:xfrm>
          <a:prstGeom prst="rect">
            <a:avLst/>
          </a:prstGeom>
          <a:noFill/>
        </p:spPr>
        <p:txBody>
          <a:bodyPr wrap="square">
            <a:spAutoFit/>
          </a:bodyPr>
          <a:lstStyle/>
          <a:p>
            <a:pPr algn="l"/>
            <a:r>
              <a:rPr sz="850" b="0" i="0">
                <a:solidFill>
                  <a:srgbClr val="666666"/>
                </a:solidFill>
                <a:latin typeface="Calibri"/>
              </a:rPr>
              <a:t>Delicate floral note</a:t>
            </a:r>
          </a:p>
        </p:txBody>
      </p:sp>
      <p:sp>
        <p:nvSpPr>
          <p:cNvPr id="41" name="Rectangle 40"/>
          <p:cNvSpPr/>
          <p:nvPr/>
        </p:nvSpPr>
        <p:spPr>
          <a:xfrm>
            <a:off x="6373368" y="4480560"/>
            <a:ext cx="146304" cy="256032"/>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574536" y="4480560"/>
            <a:ext cx="914400" cy="237744"/>
          </a:xfrm>
          <a:prstGeom prst="rect">
            <a:avLst/>
          </a:prstGeom>
          <a:noFill/>
        </p:spPr>
        <p:txBody>
          <a:bodyPr wrap="square">
            <a:spAutoFit/>
          </a:bodyPr>
          <a:lstStyle/>
          <a:p>
            <a:pPr algn="l"/>
            <a:r>
              <a:rPr sz="950" b="1" i="0">
                <a:solidFill>
                  <a:srgbClr val="2C3E50"/>
                </a:solidFill>
                <a:latin typeface="Calibri"/>
              </a:rPr>
              <a:t>Wild Strawberry:</a:t>
            </a:r>
          </a:p>
        </p:txBody>
      </p:sp>
      <p:sp>
        <p:nvSpPr>
          <p:cNvPr id="43" name="TextBox 42"/>
          <p:cNvSpPr txBox="1"/>
          <p:nvPr/>
        </p:nvSpPr>
        <p:spPr>
          <a:xfrm>
            <a:off x="7543800" y="4480560"/>
            <a:ext cx="1417320" cy="237744"/>
          </a:xfrm>
          <a:prstGeom prst="rect">
            <a:avLst/>
          </a:prstGeom>
          <a:noFill/>
        </p:spPr>
        <p:txBody>
          <a:bodyPr wrap="square">
            <a:spAutoFit/>
          </a:bodyPr>
          <a:lstStyle/>
          <a:p>
            <a:pPr algn="l"/>
            <a:r>
              <a:rPr sz="850" b="0" i="0">
                <a:solidFill>
                  <a:srgbClr val="666666"/>
                </a:solidFill>
                <a:latin typeface="Calibri"/>
              </a:rPr>
              <a:t>Berry and methyl notes</a:t>
            </a:r>
          </a:p>
        </p:txBody>
      </p:sp>
      <p:sp>
        <p:nvSpPr>
          <p:cNvPr id="44" name="Rectangle 43"/>
          <p:cNvSpPr/>
          <p:nvPr/>
        </p:nvSpPr>
        <p:spPr>
          <a:xfrm>
            <a:off x="9070848" y="4480560"/>
            <a:ext cx="146304" cy="25603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272016" y="4480560"/>
            <a:ext cx="914400" cy="237744"/>
          </a:xfrm>
          <a:prstGeom prst="rect">
            <a:avLst/>
          </a:prstGeom>
          <a:noFill/>
        </p:spPr>
        <p:txBody>
          <a:bodyPr wrap="square">
            <a:spAutoFit/>
          </a:bodyPr>
          <a:lstStyle/>
          <a:p>
            <a:pPr algn="l"/>
            <a:r>
              <a:rPr sz="950" b="1" i="0">
                <a:solidFill>
                  <a:srgbClr val="2C3E50"/>
                </a:solidFill>
                <a:latin typeface="Calibri"/>
              </a:rPr>
              <a:t>Green:</a:t>
            </a:r>
          </a:p>
        </p:txBody>
      </p:sp>
      <p:sp>
        <p:nvSpPr>
          <p:cNvPr id="46" name="TextBox 45"/>
          <p:cNvSpPr txBox="1"/>
          <p:nvPr/>
        </p:nvSpPr>
        <p:spPr>
          <a:xfrm>
            <a:off x="10241280" y="4480560"/>
            <a:ext cx="1417320" cy="237744"/>
          </a:xfrm>
          <a:prstGeom prst="rect">
            <a:avLst/>
          </a:prstGeom>
          <a:noFill/>
        </p:spPr>
        <p:txBody>
          <a:bodyPr wrap="square">
            <a:spAutoFit/>
          </a:bodyPr>
          <a:lstStyle/>
          <a:p>
            <a:pPr algn="l"/>
            <a:r>
              <a:rPr sz="850" b="0" i="0">
                <a:solidFill>
                  <a:srgbClr val="666666"/>
                </a:solidFill>
                <a:latin typeface="Calibri"/>
              </a:rPr>
              <a:t>Fresh, grassy, leafy</a:t>
            </a:r>
          </a:p>
        </p:txBody>
      </p:sp>
      <p:sp>
        <p:nvSpPr>
          <p:cNvPr id="47" name="Rectangle 46"/>
          <p:cNvSpPr/>
          <p:nvPr/>
        </p:nvSpPr>
        <p:spPr>
          <a:xfrm>
            <a:off x="6373368" y="4956048"/>
            <a:ext cx="146304" cy="256032"/>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574536" y="4956048"/>
            <a:ext cx="914400" cy="237744"/>
          </a:xfrm>
          <a:prstGeom prst="rect">
            <a:avLst/>
          </a:prstGeom>
          <a:noFill/>
        </p:spPr>
        <p:txBody>
          <a:bodyPr wrap="square">
            <a:spAutoFit/>
          </a:bodyPr>
          <a:lstStyle/>
          <a:p>
            <a:pPr algn="l"/>
            <a:r>
              <a:rPr sz="950" b="1" i="0">
                <a:solidFill>
                  <a:srgbClr val="2C3E50"/>
                </a:solidFill>
                <a:latin typeface="Calibri"/>
              </a:rPr>
              <a:t>Dairy:</a:t>
            </a:r>
          </a:p>
        </p:txBody>
      </p:sp>
      <p:sp>
        <p:nvSpPr>
          <p:cNvPr id="49" name="TextBox 48"/>
          <p:cNvSpPr txBox="1"/>
          <p:nvPr/>
        </p:nvSpPr>
        <p:spPr>
          <a:xfrm>
            <a:off x="7543800" y="4956048"/>
            <a:ext cx="1417320" cy="237744"/>
          </a:xfrm>
          <a:prstGeom prst="rect">
            <a:avLst/>
          </a:prstGeom>
          <a:noFill/>
        </p:spPr>
        <p:txBody>
          <a:bodyPr wrap="square">
            <a:spAutoFit/>
          </a:bodyPr>
          <a:lstStyle/>
          <a:p>
            <a:pPr algn="l"/>
            <a:r>
              <a:rPr sz="850" b="0" i="0">
                <a:solidFill>
                  <a:srgbClr val="666666"/>
                </a:solidFill>
                <a:latin typeface="Calibri"/>
              </a:rPr>
              <a:t>Buttery and creamy</a:t>
            </a:r>
          </a:p>
        </p:txBody>
      </p:sp>
      <p:sp>
        <p:nvSpPr>
          <p:cNvPr id="50" name="Rectangle 49"/>
          <p:cNvSpPr/>
          <p:nvPr/>
        </p:nvSpPr>
        <p:spPr>
          <a:xfrm>
            <a:off x="9070848" y="4956048"/>
            <a:ext cx="146304" cy="256032"/>
          </a:xfrm>
          <a:prstGeom prst="rect">
            <a:avLst/>
          </a:prstGeom>
          <a:solidFill>
            <a:srgbClr val="264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272016" y="4956048"/>
            <a:ext cx="914400" cy="237744"/>
          </a:xfrm>
          <a:prstGeom prst="rect">
            <a:avLst/>
          </a:prstGeom>
          <a:noFill/>
        </p:spPr>
        <p:txBody>
          <a:bodyPr wrap="square">
            <a:spAutoFit/>
          </a:bodyPr>
          <a:lstStyle/>
          <a:p>
            <a:pPr algn="l"/>
            <a:r>
              <a:rPr sz="950" b="1" i="0">
                <a:solidFill>
                  <a:srgbClr val="2C3E50"/>
                </a:solidFill>
                <a:latin typeface="Calibri"/>
              </a:rPr>
              <a:t>Unpleasant:</a:t>
            </a:r>
          </a:p>
        </p:txBody>
      </p:sp>
      <p:sp>
        <p:nvSpPr>
          <p:cNvPr id="52" name="TextBox 51"/>
          <p:cNvSpPr txBox="1"/>
          <p:nvPr/>
        </p:nvSpPr>
        <p:spPr>
          <a:xfrm>
            <a:off x="10241280" y="4956048"/>
            <a:ext cx="1417320" cy="237744"/>
          </a:xfrm>
          <a:prstGeom prst="rect">
            <a:avLst/>
          </a:prstGeom>
          <a:noFill/>
        </p:spPr>
        <p:txBody>
          <a:bodyPr wrap="square">
            <a:spAutoFit/>
          </a:bodyPr>
          <a:lstStyle/>
          <a:p>
            <a:pPr algn="l"/>
            <a:r>
              <a:rPr sz="850" b="0" i="0">
                <a:solidFill>
                  <a:srgbClr val="666666"/>
                </a:solidFill>
                <a:latin typeface="Calibri"/>
              </a:rPr>
              <a:t>Musty, overripe (reference class)</a:t>
            </a:r>
          </a:p>
        </p:txBody>
      </p:sp>
      <p:sp>
        <p:nvSpPr>
          <p:cNvPr id="53" name="Rectangle 52"/>
          <p:cNvSpPr/>
          <p:nvPr/>
        </p:nvSpPr>
        <p:spPr>
          <a:xfrm>
            <a:off x="6373368" y="5431536"/>
            <a:ext cx="146304" cy="256032"/>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574536" y="5431536"/>
            <a:ext cx="914400" cy="237744"/>
          </a:xfrm>
          <a:prstGeom prst="rect">
            <a:avLst/>
          </a:prstGeom>
          <a:noFill/>
        </p:spPr>
        <p:txBody>
          <a:bodyPr wrap="square">
            <a:spAutoFit/>
          </a:bodyPr>
          <a:lstStyle/>
          <a:p>
            <a:pPr algn="l"/>
            <a:r>
              <a:rPr sz="950" b="1" i="0">
                <a:solidFill>
                  <a:srgbClr val="2C3E50"/>
                </a:solidFill>
                <a:latin typeface="Calibri"/>
              </a:rPr>
              <a:t>Fruity:</a:t>
            </a:r>
          </a:p>
        </p:txBody>
      </p:sp>
      <p:sp>
        <p:nvSpPr>
          <p:cNvPr id="55" name="TextBox 54"/>
          <p:cNvSpPr txBox="1"/>
          <p:nvPr/>
        </p:nvSpPr>
        <p:spPr>
          <a:xfrm>
            <a:off x="7543800" y="5431536"/>
            <a:ext cx="1417320" cy="237744"/>
          </a:xfrm>
          <a:prstGeom prst="rect">
            <a:avLst/>
          </a:prstGeom>
          <a:noFill/>
        </p:spPr>
        <p:txBody>
          <a:bodyPr wrap="square">
            <a:spAutoFit/>
          </a:bodyPr>
          <a:lstStyle/>
          <a:p>
            <a:pPr algn="l"/>
            <a:r>
              <a:rPr sz="850" b="0" i="0">
                <a:solidFill>
                  <a:srgbClr val="666666"/>
                </a:solidFill>
                <a:latin typeface="Calibri"/>
              </a:rPr>
              <a:t>Fruity ester character</a:t>
            </a:r>
          </a:p>
        </p:txBody>
      </p:sp>
      <p:sp>
        <p:nvSpPr>
          <p:cNvPr id="56" name="Rectangle 55"/>
          <p:cNvSpPr/>
          <p:nvPr/>
        </p:nvSpPr>
        <p:spPr>
          <a:xfrm>
            <a:off x="6298371" y="5931679"/>
            <a:ext cx="5564663" cy="743115"/>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6257452" y="5752867"/>
            <a:ext cx="41148" cy="9144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373368" y="5755028"/>
            <a:ext cx="1828800" cy="219456"/>
          </a:xfrm>
          <a:prstGeom prst="rect">
            <a:avLst/>
          </a:prstGeom>
          <a:noFill/>
        </p:spPr>
        <p:txBody>
          <a:bodyPr wrap="square">
            <a:spAutoFit/>
          </a:bodyPr>
          <a:lstStyle/>
          <a:p>
            <a:pPr algn="l"/>
            <a:r>
              <a:rPr sz="800" b="1" i="0">
                <a:solidFill>
                  <a:srgbClr val="E67E22"/>
                </a:solidFill>
                <a:latin typeface="Calibri"/>
              </a:rPr>
              <a:t>KEY RESULT</a:t>
            </a:r>
          </a:p>
        </p:txBody>
      </p:sp>
      <p:sp>
        <p:nvSpPr>
          <p:cNvPr id="59" name="TextBox 58"/>
          <p:cNvSpPr txBox="1"/>
          <p:nvPr/>
        </p:nvSpPr>
        <p:spPr>
          <a:xfrm>
            <a:off x="6373368" y="6032299"/>
            <a:ext cx="5266944" cy="566928"/>
          </a:xfrm>
          <a:prstGeom prst="rect">
            <a:avLst/>
          </a:prstGeom>
          <a:noFill/>
        </p:spPr>
        <p:txBody>
          <a:bodyPr wrap="square">
            <a:spAutoFit/>
          </a:bodyPr>
          <a:lstStyle/>
          <a:p>
            <a:pPr algn="l"/>
            <a:r>
              <a:rPr sz="1000" b="0" i="0">
                <a:solidFill>
                  <a:srgbClr val="2C3E50"/>
                </a:solidFill>
                <a:latin typeface="Calibri"/>
              </a:rPr>
              <a:t>Both methods agree on over 90% of the recipes our sensory panel tasted with unanimous verdict. The rare cases of disagreement between the two methods serve as a flag: those recipes are borderline cases that benefit from expert re-evaluation.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28016"/>
            <a:ext cx="10972800" cy="256032"/>
          </a:xfrm>
          <a:prstGeom prst="rect">
            <a:avLst/>
          </a:prstGeom>
          <a:noFill/>
        </p:spPr>
        <p:txBody>
          <a:bodyPr wrap="square">
            <a:spAutoFit/>
          </a:bodyPr>
          <a:lstStyle/>
          <a:p>
            <a:pPr algn="l"/>
            <a:r>
              <a:rPr b="1" sz="800">
                <a:solidFill>
                  <a:srgbClr val="AABBCC"/>
                </a:solidFill>
              </a:rPr>
              <a:t>04 / FROM INGREDIENT ANALYSIS TO SCORING</a:t>
            </a:r>
          </a:p>
        </p:txBody>
      </p:sp>
      <p:sp>
        <p:nvSpPr>
          <p:cNvPr id="4" name="TextBox 3"/>
          <p:cNvSpPr txBox="1"/>
          <p:nvPr/>
        </p:nvSpPr>
        <p:spPr>
          <a:xfrm>
            <a:off x="411480" y="347472"/>
            <a:ext cx="10972800" cy="658368"/>
          </a:xfrm>
          <a:prstGeom prst="rect">
            <a:avLst/>
          </a:prstGeom>
          <a:noFill/>
        </p:spPr>
        <p:txBody>
          <a:bodyPr wrap="square">
            <a:spAutoFit/>
          </a:bodyPr>
          <a:lstStyle/>
          <a:p>
            <a:pPr algn="l"/>
            <a:r>
              <a:rPr b="1" sz="2600">
                <a:solidFill>
                  <a:srgbClr val="FFFFFF"/>
                </a:solidFill>
              </a:rPr>
              <a:t>How ingredient analysis guided the design of the scoring system</a:t>
            </a:r>
          </a:p>
        </p:txBody>
      </p:sp>
      <p:sp>
        <p:nvSpPr>
          <p:cNvPr id="5" name="TextBox 4"/>
          <p:cNvSpPr txBox="1"/>
          <p:nvPr/>
        </p:nvSpPr>
        <p:spPr>
          <a:xfrm>
            <a:off x="411480" y="960120"/>
            <a:ext cx="10972800" cy="274320"/>
          </a:xfrm>
          <a:prstGeom prst="rect">
            <a:avLst/>
          </a:prstGeom>
          <a:noFill/>
        </p:spPr>
        <p:txBody>
          <a:bodyPr wrap="square">
            <a:spAutoFit/>
          </a:bodyPr>
          <a:lstStyle/>
          <a:p>
            <a:pPr algn="l"/>
            <a:r>
              <a:rPr b="0" sz="1100">
                <a:solidFill>
                  <a:srgbClr val="CCDDEE"/>
                </a:solidFill>
              </a:rPr>
              <a:t>Per-flavor-type ingredient analysis, panel-verified recipes only</a:t>
            </a:r>
          </a:p>
        </p:txBody>
      </p:sp>
      <p:sp>
        <p:nvSpPr>
          <p:cNvPr id="6" name="Rectangle 5"/>
          <p:cNvSpPr/>
          <p:nvPr/>
        </p:nvSpPr>
        <p:spPr>
          <a:xfrm>
            <a:off x="0" y="6510528"/>
            <a:ext cx="12188952" cy="347472"/>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10528"/>
            <a:ext cx="36576" cy="3474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56248"/>
            <a:ext cx="8229600" cy="228600"/>
          </a:xfrm>
          <a:prstGeom prst="rect">
            <a:avLst/>
          </a:prstGeom>
          <a:noFill/>
        </p:spPr>
        <p:txBody>
          <a:bodyPr wrap="square">
            <a:spAutoFit/>
          </a:bodyPr>
          <a:lstStyle/>
          <a:p>
            <a:pPr algn="l"/>
            <a:r>
              <a:rPr sz="750" b="0" i="0">
                <a:solidFill>
                  <a:srgbClr val="666666"/>
                </a:solidFill>
                <a:latin typeface="Calibri"/>
              </a:rPr>
              <a:t>TAIsty  |  AI-Assisted Flavor Development  |  Status July 2026  |  Confidential</a:t>
            </a:r>
          </a:p>
        </p:txBody>
      </p:sp>
      <p:sp>
        <p:nvSpPr>
          <p:cNvPr id="9" name="TextBox 8"/>
          <p:cNvSpPr txBox="1"/>
          <p:nvPr/>
        </p:nvSpPr>
        <p:spPr>
          <a:xfrm>
            <a:off x="8686800" y="6556248"/>
            <a:ext cx="3291840" cy="228600"/>
          </a:xfrm>
          <a:prstGeom prst="rect">
            <a:avLst/>
          </a:prstGeom>
          <a:noFill/>
        </p:spPr>
        <p:txBody>
          <a:bodyPr wrap="square">
            <a:spAutoFit/>
          </a:bodyPr>
          <a:lstStyle/>
          <a:p>
            <a:pPr algn="r"/>
            <a:r>
              <a:rPr sz="750" b="0" i="0">
                <a:solidFill>
                  <a:srgbClr val="666666"/>
                </a:solidFill>
                <a:latin typeface="Calibri"/>
              </a:rPr>
              <a:t>4 / 5</a:t>
            </a:r>
          </a:p>
        </p:txBody>
      </p:sp>
      <p:pic>
        <p:nvPicPr>
          <p:cNvPr id="10" name="Picture 9" descr="pca_true_cluster_summary_grid.png"/>
          <p:cNvPicPr>
            <a:picLocks noChangeAspect="1"/>
          </p:cNvPicPr>
          <p:nvPr/>
        </p:nvPicPr>
        <p:blipFill>
          <a:blip r:embed="rId2"/>
          <a:stretch>
            <a:fillRect/>
          </a:stretch>
        </p:blipFill>
        <p:spPr>
          <a:xfrm>
            <a:off x="411480" y="1389888"/>
            <a:ext cx="4251960" cy="4251960"/>
          </a:xfrm>
          <a:prstGeom prst="rect">
            <a:avLst/>
          </a:prstGeom>
        </p:spPr>
      </p:pic>
      <p:sp>
        <p:nvSpPr>
          <p:cNvPr id="11" name="TextBox 10"/>
          <p:cNvSpPr txBox="1"/>
          <p:nvPr/>
        </p:nvSpPr>
        <p:spPr>
          <a:xfrm>
            <a:off x="411480" y="5687568"/>
            <a:ext cx="4251960" cy="219456"/>
          </a:xfrm>
          <a:prstGeom prst="rect">
            <a:avLst/>
          </a:prstGeom>
          <a:noFill/>
        </p:spPr>
        <p:txBody>
          <a:bodyPr wrap="square">
            <a:spAutoFit/>
          </a:bodyPr>
          <a:lstStyle/>
          <a:p>
            <a:pPr algn="l"/>
            <a:r>
              <a:rPr sz="800" b="0" i="1">
                <a:solidFill>
                  <a:srgbClr val="666666"/>
                </a:solidFill>
                <a:latin typeface="Calibri"/>
              </a:rPr>
              <a:t>Per-archetype ingredient fingerprints (panel-verified recipes only)</a:t>
            </a:r>
          </a:p>
        </p:txBody>
      </p:sp>
      <p:sp>
        <p:nvSpPr>
          <p:cNvPr id="12" name="TextBox 11"/>
          <p:cNvSpPr txBox="1"/>
          <p:nvPr/>
        </p:nvSpPr>
        <p:spPr>
          <a:xfrm>
            <a:off x="4892040" y="1389888"/>
            <a:ext cx="6949440" cy="237744"/>
          </a:xfrm>
          <a:prstGeom prst="rect">
            <a:avLst/>
          </a:prstGeom>
          <a:noFill/>
        </p:spPr>
        <p:txBody>
          <a:bodyPr wrap="square">
            <a:spAutoFit/>
          </a:bodyPr>
          <a:lstStyle/>
          <a:p>
            <a:pPr algn="l"/>
            <a:r>
              <a:rPr sz="800" b="1" i="0">
                <a:solidFill>
                  <a:srgbClr val="7D3C98"/>
                </a:solidFill>
                <a:latin typeface="Calibri"/>
              </a:rPr>
              <a:t>WHAT THE ANALYSIS REVEALS PER ARCHETYPE</a:t>
            </a:r>
          </a:p>
        </p:txBody>
      </p:sp>
      <p:sp>
        <p:nvSpPr>
          <p:cNvPr id="13" name="Rectangle 12"/>
          <p:cNvSpPr/>
          <p:nvPr/>
        </p:nvSpPr>
        <p:spPr>
          <a:xfrm>
            <a:off x="4892040" y="1627632"/>
            <a:ext cx="6949440" cy="1143000"/>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892040" y="1627632"/>
            <a:ext cx="41148" cy="1143000"/>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47488" y="1700784"/>
            <a:ext cx="6638544" cy="1005840"/>
          </a:xfrm>
          <a:prstGeom prst="rect">
            <a:avLst/>
          </a:prstGeom>
          <a:noFill/>
        </p:spPr>
        <p:txBody>
          <a:bodyPr wrap="square">
            <a:spAutoFit/>
          </a:bodyPr>
          <a:lstStyle/>
          <a:p>
            <a:pPr algn="l"/>
            <a:r>
              <a:rPr sz="1050" b="0" i="0">
                <a:solidFill>
                  <a:srgbClr val="2C3E50"/>
                </a:solidFill>
                <a:latin typeface="Calibri"/>
              </a:rPr>
              <a:t>We run a principal component analysis separately on each archetype using only panel-confirmed true-label recipes. The first component captures the main axis of ingredient variation within each archetype and reveals which raw materials most strongly define it, its chemical fingerprint.</a:t>
            </a:r>
          </a:p>
        </p:txBody>
      </p:sp>
      <p:sp>
        <p:nvSpPr>
          <p:cNvPr id="16" name="TextBox 15"/>
          <p:cNvSpPr txBox="1"/>
          <p:nvPr/>
        </p:nvSpPr>
        <p:spPr>
          <a:xfrm>
            <a:off x="4892040" y="2889504"/>
            <a:ext cx="6949440" cy="237744"/>
          </a:xfrm>
          <a:prstGeom prst="rect">
            <a:avLst/>
          </a:prstGeom>
          <a:noFill/>
        </p:spPr>
        <p:txBody>
          <a:bodyPr wrap="square">
            <a:spAutoFit/>
          </a:bodyPr>
          <a:lstStyle/>
          <a:p>
            <a:pPr algn="l"/>
            <a:r>
              <a:rPr sz="800" b="1" i="0">
                <a:solidFill>
                  <a:srgbClr val="2C3E50"/>
                </a:solidFill>
                <a:latin typeface="Calibri"/>
              </a:rPr>
              <a:t>EXAMPLE INGREDIENT SIGNATURES</a:t>
            </a:r>
          </a:p>
        </p:txBody>
      </p:sp>
      <p:sp>
        <p:nvSpPr>
          <p:cNvPr id="17" name="Rectangle 16"/>
          <p:cNvSpPr/>
          <p:nvPr/>
        </p:nvSpPr>
        <p:spPr>
          <a:xfrm>
            <a:off x="4892040" y="3200400"/>
            <a:ext cx="164592" cy="16459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38928" y="3163824"/>
            <a:ext cx="1097280" cy="219456"/>
          </a:xfrm>
          <a:prstGeom prst="rect">
            <a:avLst/>
          </a:prstGeom>
          <a:noFill/>
        </p:spPr>
        <p:txBody>
          <a:bodyPr wrap="square">
            <a:spAutoFit/>
          </a:bodyPr>
          <a:lstStyle/>
          <a:p>
            <a:pPr algn="l"/>
            <a:r>
              <a:rPr sz="950" b="1" i="0">
                <a:solidFill>
                  <a:srgbClr val="2C3E50"/>
                </a:solidFill>
                <a:latin typeface="Calibri"/>
              </a:rPr>
              <a:t>Warm:</a:t>
            </a:r>
          </a:p>
        </p:txBody>
      </p:sp>
      <p:sp>
        <p:nvSpPr>
          <p:cNvPr id="19" name="TextBox 18"/>
          <p:cNvSpPr txBox="1"/>
          <p:nvPr/>
        </p:nvSpPr>
        <p:spPr>
          <a:xfrm>
            <a:off x="6309360" y="3163824"/>
            <a:ext cx="5367528" cy="219456"/>
          </a:xfrm>
          <a:prstGeom prst="rect">
            <a:avLst/>
          </a:prstGeom>
          <a:noFill/>
        </p:spPr>
        <p:txBody>
          <a:bodyPr wrap="square">
            <a:spAutoFit/>
          </a:bodyPr>
          <a:lstStyle/>
          <a:p>
            <a:pPr algn="l"/>
            <a:r>
              <a:rPr sz="950" b="0" i="0">
                <a:solidFill>
                  <a:srgbClr val="666666"/>
                </a:solidFill>
                <a:latin typeface="Calibri"/>
              </a:rPr>
              <a:t>Furaneol, Maltol, Vanillin</a:t>
            </a:r>
          </a:p>
        </p:txBody>
      </p:sp>
      <p:sp>
        <p:nvSpPr>
          <p:cNvPr id="20" name="Rectangle 19"/>
          <p:cNvSpPr/>
          <p:nvPr/>
        </p:nvSpPr>
        <p:spPr>
          <a:xfrm>
            <a:off x="4892040" y="3675888"/>
            <a:ext cx="164592" cy="164592"/>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38928" y="3639312"/>
            <a:ext cx="1097280" cy="219456"/>
          </a:xfrm>
          <a:prstGeom prst="rect">
            <a:avLst/>
          </a:prstGeom>
          <a:noFill/>
        </p:spPr>
        <p:txBody>
          <a:bodyPr wrap="square">
            <a:spAutoFit/>
          </a:bodyPr>
          <a:lstStyle/>
          <a:p>
            <a:pPr algn="l"/>
            <a:r>
              <a:rPr sz="950" b="1" i="0">
                <a:solidFill>
                  <a:srgbClr val="2C3E50"/>
                </a:solidFill>
                <a:latin typeface="Calibri"/>
              </a:rPr>
              <a:t>Floral:</a:t>
            </a:r>
          </a:p>
        </p:txBody>
      </p:sp>
      <p:sp>
        <p:nvSpPr>
          <p:cNvPr id="22" name="TextBox 21"/>
          <p:cNvSpPr txBox="1"/>
          <p:nvPr/>
        </p:nvSpPr>
        <p:spPr>
          <a:xfrm>
            <a:off x="6309360" y="3639312"/>
            <a:ext cx="5367528" cy="219456"/>
          </a:xfrm>
          <a:prstGeom prst="rect">
            <a:avLst/>
          </a:prstGeom>
          <a:noFill/>
        </p:spPr>
        <p:txBody>
          <a:bodyPr wrap="square">
            <a:spAutoFit/>
          </a:bodyPr>
          <a:lstStyle/>
          <a:p>
            <a:pPr algn="l"/>
            <a:r>
              <a:rPr sz="950" b="0" i="0">
                <a:solidFill>
                  <a:srgbClr val="666666"/>
                </a:solidFill>
                <a:latin typeface="Calibri"/>
              </a:rPr>
              <a:t>Jasmin Absolute, Linalool</a:t>
            </a:r>
          </a:p>
        </p:txBody>
      </p:sp>
      <p:sp>
        <p:nvSpPr>
          <p:cNvPr id="23" name="Rectangle 22"/>
          <p:cNvSpPr/>
          <p:nvPr/>
        </p:nvSpPr>
        <p:spPr>
          <a:xfrm>
            <a:off x="4892040" y="4151376"/>
            <a:ext cx="164592" cy="16459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38928" y="4114800"/>
            <a:ext cx="1097280" cy="219456"/>
          </a:xfrm>
          <a:prstGeom prst="rect">
            <a:avLst/>
          </a:prstGeom>
          <a:noFill/>
        </p:spPr>
        <p:txBody>
          <a:bodyPr wrap="square">
            <a:spAutoFit/>
          </a:bodyPr>
          <a:lstStyle/>
          <a:p>
            <a:pPr algn="l"/>
            <a:r>
              <a:rPr sz="950" b="1" i="0">
                <a:solidFill>
                  <a:srgbClr val="2C3E50"/>
                </a:solidFill>
                <a:latin typeface="Calibri"/>
              </a:rPr>
              <a:t>Green:</a:t>
            </a:r>
          </a:p>
        </p:txBody>
      </p:sp>
      <p:sp>
        <p:nvSpPr>
          <p:cNvPr id="25" name="TextBox 24"/>
          <p:cNvSpPr txBox="1"/>
          <p:nvPr/>
        </p:nvSpPr>
        <p:spPr>
          <a:xfrm>
            <a:off x="6309360" y="4114800"/>
            <a:ext cx="5367528" cy="219456"/>
          </a:xfrm>
          <a:prstGeom prst="rect">
            <a:avLst/>
          </a:prstGeom>
          <a:noFill/>
        </p:spPr>
        <p:txBody>
          <a:bodyPr wrap="square">
            <a:spAutoFit/>
          </a:bodyPr>
          <a:lstStyle/>
          <a:p>
            <a:pPr algn="l"/>
            <a:r>
              <a:rPr sz="950" b="0" i="0">
                <a:solidFill>
                  <a:srgbClr val="666666"/>
                </a:solidFill>
                <a:latin typeface="Calibri"/>
              </a:rPr>
              <a:t>cis-3-Hexenol, trans-2-Hexenal</a:t>
            </a:r>
          </a:p>
        </p:txBody>
      </p:sp>
      <p:sp>
        <p:nvSpPr>
          <p:cNvPr id="26" name="Rectangle 25"/>
          <p:cNvSpPr/>
          <p:nvPr/>
        </p:nvSpPr>
        <p:spPr>
          <a:xfrm>
            <a:off x="4892040" y="4626864"/>
            <a:ext cx="164592" cy="164592"/>
          </a:xfrm>
          <a:prstGeom prst="rect">
            <a:avLst/>
          </a:prstGeom>
          <a:solidFill>
            <a:srgbClr val="E9C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38928" y="4590288"/>
            <a:ext cx="1097280" cy="219456"/>
          </a:xfrm>
          <a:prstGeom prst="rect">
            <a:avLst/>
          </a:prstGeom>
          <a:noFill/>
        </p:spPr>
        <p:txBody>
          <a:bodyPr wrap="square">
            <a:spAutoFit/>
          </a:bodyPr>
          <a:lstStyle/>
          <a:p>
            <a:pPr algn="l"/>
            <a:r>
              <a:rPr sz="950" b="1" i="0">
                <a:solidFill>
                  <a:srgbClr val="2C3E50"/>
                </a:solidFill>
                <a:latin typeface="Calibri"/>
              </a:rPr>
              <a:t>Dairy:</a:t>
            </a:r>
          </a:p>
        </p:txBody>
      </p:sp>
      <p:sp>
        <p:nvSpPr>
          <p:cNvPr id="28" name="TextBox 27"/>
          <p:cNvSpPr txBox="1"/>
          <p:nvPr/>
        </p:nvSpPr>
        <p:spPr>
          <a:xfrm>
            <a:off x="6309360" y="4590288"/>
            <a:ext cx="5367528" cy="219456"/>
          </a:xfrm>
          <a:prstGeom prst="rect">
            <a:avLst/>
          </a:prstGeom>
          <a:noFill/>
        </p:spPr>
        <p:txBody>
          <a:bodyPr wrap="square">
            <a:spAutoFit/>
          </a:bodyPr>
          <a:lstStyle/>
          <a:p>
            <a:pPr algn="l"/>
            <a:r>
              <a:rPr sz="950" b="0" i="0">
                <a:solidFill>
                  <a:srgbClr val="666666"/>
                </a:solidFill>
                <a:latin typeface="Calibri"/>
              </a:rPr>
              <a:t>Diacetyl, Acetoin</a:t>
            </a:r>
          </a:p>
        </p:txBody>
      </p:sp>
      <p:sp>
        <p:nvSpPr>
          <p:cNvPr id="29" name="Rectangle 28"/>
          <p:cNvSpPr/>
          <p:nvPr/>
        </p:nvSpPr>
        <p:spPr>
          <a:xfrm>
            <a:off x="4892040" y="5102352"/>
            <a:ext cx="164592" cy="164592"/>
          </a:xfrm>
          <a:prstGeom prst="rect">
            <a:avLst/>
          </a:prstGeom>
          <a:solidFill>
            <a:srgbClr val="2646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138928" y="5065776"/>
            <a:ext cx="1097280" cy="219456"/>
          </a:xfrm>
          <a:prstGeom prst="rect">
            <a:avLst/>
          </a:prstGeom>
          <a:noFill/>
        </p:spPr>
        <p:txBody>
          <a:bodyPr wrap="square">
            <a:spAutoFit/>
          </a:bodyPr>
          <a:lstStyle/>
          <a:p>
            <a:pPr algn="l"/>
            <a:r>
              <a:rPr sz="950" b="1" i="0">
                <a:solidFill>
                  <a:srgbClr val="2C3E50"/>
                </a:solidFill>
                <a:latin typeface="Calibri"/>
              </a:rPr>
              <a:t>Unpleasant:</a:t>
            </a:r>
          </a:p>
        </p:txBody>
      </p:sp>
      <p:sp>
        <p:nvSpPr>
          <p:cNvPr id="31" name="TextBox 30"/>
          <p:cNvSpPr txBox="1"/>
          <p:nvPr/>
        </p:nvSpPr>
        <p:spPr>
          <a:xfrm>
            <a:off x="6309360" y="5065776"/>
            <a:ext cx="5367528" cy="219456"/>
          </a:xfrm>
          <a:prstGeom prst="rect">
            <a:avLst/>
          </a:prstGeom>
          <a:noFill/>
        </p:spPr>
        <p:txBody>
          <a:bodyPr wrap="square">
            <a:spAutoFit/>
          </a:bodyPr>
          <a:lstStyle/>
          <a:p>
            <a:pPr algn="l"/>
            <a:r>
              <a:rPr sz="950" b="0" i="0">
                <a:solidFill>
                  <a:srgbClr val="666666"/>
                </a:solidFill>
                <a:latin typeface="Calibri"/>
              </a:rPr>
              <a:t>Hexanoic acid, sulfurous compounds</a:t>
            </a:r>
          </a:p>
        </p:txBody>
      </p:sp>
      <p:sp>
        <p:nvSpPr>
          <p:cNvPr id="32" name="Rectangle 31"/>
          <p:cNvSpPr/>
          <p:nvPr/>
        </p:nvSpPr>
        <p:spPr>
          <a:xfrm>
            <a:off x="4892040" y="5577840"/>
            <a:ext cx="164592" cy="164592"/>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138928" y="5541264"/>
            <a:ext cx="1097280" cy="219456"/>
          </a:xfrm>
          <a:prstGeom prst="rect">
            <a:avLst/>
          </a:prstGeom>
          <a:noFill/>
        </p:spPr>
        <p:txBody>
          <a:bodyPr wrap="square">
            <a:spAutoFit/>
          </a:bodyPr>
          <a:lstStyle/>
          <a:p>
            <a:pPr algn="l"/>
            <a:r>
              <a:rPr sz="950" b="1" i="0">
                <a:solidFill>
                  <a:srgbClr val="2C3E50"/>
                </a:solidFill>
                <a:latin typeface="Calibri"/>
              </a:rPr>
              <a:t>Fruity:</a:t>
            </a:r>
          </a:p>
        </p:txBody>
      </p:sp>
      <p:sp>
        <p:nvSpPr>
          <p:cNvPr id="34" name="TextBox 33"/>
          <p:cNvSpPr txBox="1"/>
          <p:nvPr/>
        </p:nvSpPr>
        <p:spPr>
          <a:xfrm>
            <a:off x="6309360" y="5541264"/>
            <a:ext cx="5367528" cy="219456"/>
          </a:xfrm>
          <a:prstGeom prst="rect">
            <a:avLst/>
          </a:prstGeom>
          <a:noFill/>
        </p:spPr>
        <p:txBody>
          <a:bodyPr wrap="square">
            <a:spAutoFit/>
          </a:bodyPr>
          <a:lstStyle/>
          <a:p>
            <a:pPr algn="l"/>
            <a:r>
              <a:rPr sz="950" b="0" i="0">
                <a:solidFill>
                  <a:srgbClr val="666666"/>
                </a:solidFill>
                <a:latin typeface="Calibri"/>
              </a:rPr>
              <a:t>Isoamyl acetate, ethyl esters</a:t>
            </a:r>
          </a:p>
        </p:txBody>
      </p:sp>
      <p:sp>
        <p:nvSpPr>
          <p:cNvPr id="35" name="Rectangle 34"/>
          <p:cNvSpPr/>
          <p:nvPr/>
        </p:nvSpPr>
        <p:spPr>
          <a:xfrm>
            <a:off x="411480" y="6053328"/>
            <a:ext cx="11338560" cy="10972"/>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892040" y="6099048"/>
            <a:ext cx="6949440" cy="237744"/>
          </a:xfrm>
          <a:prstGeom prst="rect">
            <a:avLst/>
          </a:prstGeom>
          <a:noFill/>
        </p:spPr>
        <p:txBody>
          <a:bodyPr wrap="square">
            <a:spAutoFit/>
          </a:bodyPr>
          <a:lstStyle/>
          <a:p>
            <a:pPr algn="l"/>
            <a:r>
              <a:rPr sz="800" b="1" i="0">
                <a:solidFill>
                  <a:srgbClr val="17A589"/>
                </a:solidFill>
                <a:latin typeface="Calibri"/>
              </a:rPr>
              <a:t>HOW THIS CONNECTS TO THE SCORING FRAMEWORK</a:t>
            </a:r>
          </a:p>
        </p:txBody>
      </p:sp>
      <p:sp>
        <p:nvSpPr>
          <p:cNvPr id="37" name="Rectangle 36"/>
          <p:cNvSpPr/>
          <p:nvPr/>
        </p:nvSpPr>
        <p:spPr>
          <a:xfrm>
            <a:off x="4892040" y="6336792"/>
            <a:ext cx="6949440" cy="475488"/>
          </a:xfrm>
          <a:prstGeom prst="rect">
            <a:avLst/>
          </a:prstGeom>
          <a:solidFill>
            <a:srgbClr val="E9F7EF"/>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892040" y="6336792"/>
            <a:ext cx="41148" cy="475488"/>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47488" y="6307489"/>
            <a:ext cx="6638544" cy="402336"/>
          </a:xfrm>
          <a:prstGeom prst="rect">
            <a:avLst/>
          </a:prstGeom>
          <a:noFill/>
        </p:spPr>
        <p:txBody>
          <a:bodyPr wrap="square">
            <a:spAutoFit/>
          </a:bodyPr>
          <a:lstStyle/>
          <a:p>
            <a:pPr algn="l"/>
            <a:r>
              <a:rPr sz="1000" b="0" i="0">
                <a:solidFill>
                  <a:srgbClr val="2C3E50"/>
                </a:solidFill>
                <a:latin typeface="Calibri"/>
              </a:rPr>
              <a:t>The statistical fingerprints directly informed the design of the expert scoring system: ingredients with strong archetype-specific signals received higher weights, while ubiquitous background ingredients received zero weight. This transforms qualitative flavorist knowledge into a quantitative, reproducible scoring formula.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28016"/>
            <a:ext cx="10972800" cy="256032"/>
          </a:xfrm>
          <a:prstGeom prst="rect">
            <a:avLst/>
          </a:prstGeom>
          <a:noFill/>
        </p:spPr>
        <p:txBody>
          <a:bodyPr wrap="square">
            <a:spAutoFit/>
          </a:bodyPr>
          <a:lstStyle/>
          <a:p>
            <a:pPr algn="l"/>
            <a:r>
              <a:rPr sz="800" b="1" i="0">
                <a:solidFill>
                  <a:srgbClr val="AABBCC"/>
                </a:solidFill>
                <a:latin typeface="Calibri"/>
              </a:rPr>
              <a:t>05 / RESULTS &amp; NEXT STEPS</a:t>
            </a:r>
          </a:p>
        </p:txBody>
      </p:sp>
      <p:sp>
        <p:nvSpPr>
          <p:cNvPr id="4" name="TextBox 3"/>
          <p:cNvSpPr txBox="1"/>
          <p:nvPr/>
        </p:nvSpPr>
        <p:spPr>
          <a:xfrm>
            <a:off x="411480" y="347472"/>
            <a:ext cx="10972800" cy="658368"/>
          </a:xfrm>
          <a:prstGeom prst="rect">
            <a:avLst/>
          </a:prstGeom>
          <a:noFill/>
        </p:spPr>
        <p:txBody>
          <a:bodyPr wrap="square">
            <a:spAutoFit/>
          </a:bodyPr>
          <a:lstStyle/>
          <a:p>
            <a:pPr algn="l"/>
            <a:r>
              <a:rPr sz="2600" b="1" i="0">
                <a:solidFill>
                  <a:srgbClr val="FFFFFF"/>
                </a:solidFill>
                <a:latin typeface="Calibri"/>
              </a:rPr>
              <a:t>Where We Stand and What Comes Next</a:t>
            </a:r>
          </a:p>
        </p:txBody>
      </p:sp>
      <p:sp>
        <p:nvSpPr>
          <p:cNvPr id="5" name="TextBox 4"/>
          <p:cNvSpPr txBox="1"/>
          <p:nvPr/>
        </p:nvSpPr>
        <p:spPr>
          <a:xfrm>
            <a:off x="411480" y="960120"/>
            <a:ext cx="10972800" cy="274320"/>
          </a:xfrm>
          <a:prstGeom prst="rect">
            <a:avLst/>
          </a:prstGeom>
          <a:noFill/>
        </p:spPr>
        <p:txBody>
          <a:bodyPr wrap="square">
            <a:spAutoFit/>
          </a:bodyPr>
          <a:lstStyle/>
          <a:p>
            <a:pPr algn="l"/>
            <a:r>
              <a:rPr sz="1100" b="0" i="1">
                <a:solidFill>
                  <a:srgbClr val="CCDDEE"/>
                </a:solidFill>
                <a:latin typeface="Calibri"/>
              </a:rPr>
              <a:t>Classification results, scoring calibration in progress, and the path forward</a:t>
            </a:r>
          </a:p>
        </p:txBody>
      </p:sp>
      <p:sp>
        <p:nvSpPr>
          <p:cNvPr id="6" name="Rectangle 5"/>
          <p:cNvSpPr/>
          <p:nvPr/>
        </p:nvSpPr>
        <p:spPr>
          <a:xfrm>
            <a:off x="0" y="6510528"/>
            <a:ext cx="12188952" cy="347472"/>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10528"/>
            <a:ext cx="36576" cy="34747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 y="6556248"/>
            <a:ext cx="8229600" cy="228600"/>
          </a:xfrm>
          <a:prstGeom prst="rect">
            <a:avLst/>
          </a:prstGeom>
          <a:noFill/>
        </p:spPr>
        <p:txBody>
          <a:bodyPr wrap="square">
            <a:spAutoFit/>
          </a:bodyPr>
          <a:lstStyle/>
          <a:p>
            <a:pPr algn="l"/>
            <a:r>
              <a:rPr sz="750" b="0" i="0">
                <a:solidFill>
                  <a:srgbClr val="666666"/>
                </a:solidFill>
                <a:latin typeface="Calibri"/>
              </a:rPr>
              <a:t>TAIsty  |  AI-Assisted Flavor Development  |  Status July 2026  |  Confidential</a:t>
            </a:r>
          </a:p>
        </p:txBody>
      </p:sp>
      <p:sp>
        <p:nvSpPr>
          <p:cNvPr id="9" name="TextBox 8"/>
          <p:cNvSpPr txBox="1"/>
          <p:nvPr/>
        </p:nvSpPr>
        <p:spPr>
          <a:xfrm>
            <a:off x="8686800" y="6556248"/>
            <a:ext cx="3291840" cy="228600"/>
          </a:xfrm>
          <a:prstGeom prst="rect">
            <a:avLst/>
          </a:prstGeom>
          <a:noFill/>
        </p:spPr>
        <p:txBody>
          <a:bodyPr wrap="square">
            <a:spAutoFit/>
          </a:bodyPr>
          <a:lstStyle/>
          <a:p>
            <a:pPr algn="r"/>
            <a:r>
              <a:rPr sz="750" b="0" i="0">
                <a:solidFill>
                  <a:srgbClr val="666666"/>
                </a:solidFill>
                <a:latin typeface="Calibri"/>
              </a:rPr>
              <a:t>5 / 5</a:t>
            </a:r>
          </a:p>
        </p:txBody>
      </p:sp>
      <p:sp>
        <p:nvSpPr>
          <p:cNvPr id="10" name="Rectangle 9"/>
          <p:cNvSpPr/>
          <p:nvPr/>
        </p:nvSpPr>
        <p:spPr>
          <a:xfrm>
            <a:off x="411480" y="1389888"/>
            <a:ext cx="3749039" cy="212140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 y="1389888"/>
            <a:ext cx="3749039" cy="34747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1453896"/>
            <a:ext cx="3474720" cy="261610"/>
          </a:xfrm>
          <a:prstGeom prst="rect">
            <a:avLst/>
          </a:prstGeom>
          <a:noFill/>
        </p:spPr>
        <p:txBody>
          <a:bodyPr wrap="square" lIns="91440" tIns="45720" rIns="91440" bIns="45720" anchor="t">
            <a:spAutoFit/>
          </a:bodyPr>
          <a:lstStyle/>
          <a:p>
            <a:pPr algn="l"/>
            <a:r>
              <a:rPr sz="1100" b="1" i="0" dirty="0">
                <a:solidFill>
                  <a:srgbClr val="FFFFFF"/>
                </a:solidFill>
                <a:latin typeface="Calibri"/>
              </a:rPr>
              <a:t>Rule-Based </a:t>
            </a:r>
            <a:r>
              <a:rPr lang="de-DE" sz="1100" b="1">
                <a:solidFill>
                  <a:srgbClr val="FFFFFF"/>
                </a:solidFill>
                <a:latin typeface="Calibri"/>
              </a:rPr>
              <a:t>-</a:t>
            </a:r>
            <a:r>
              <a:rPr sz="1100" b="1" i="0" dirty="0">
                <a:solidFill>
                  <a:srgbClr val="FFFFFF"/>
                </a:solidFill>
                <a:latin typeface="Calibri"/>
              </a:rPr>
              <a:t> Expert Rule Classification</a:t>
            </a:r>
          </a:p>
        </p:txBody>
      </p:sp>
      <p:sp>
        <p:nvSpPr>
          <p:cNvPr id="13" name="TextBox 12"/>
          <p:cNvSpPr txBox="1"/>
          <p:nvPr/>
        </p:nvSpPr>
        <p:spPr>
          <a:xfrm>
            <a:off x="548640" y="1792224"/>
            <a:ext cx="1371600" cy="658368"/>
          </a:xfrm>
          <a:prstGeom prst="rect">
            <a:avLst/>
          </a:prstGeom>
          <a:noFill/>
        </p:spPr>
        <p:txBody>
          <a:bodyPr wrap="square">
            <a:spAutoFit/>
          </a:bodyPr>
          <a:lstStyle/>
          <a:p>
            <a:pPr algn="l"/>
            <a:r>
              <a:rPr sz="3200" b="1" i="0">
                <a:solidFill>
                  <a:srgbClr val="2E86C1"/>
                </a:solidFill>
                <a:latin typeface="Calibri"/>
              </a:rPr>
              <a:t>90%</a:t>
            </a:r>
          </a:p>
        </p:txBody>
      </p:sp>
      <p:sp>
        <p:nvSpPr>
          <p:cNvPr id="14" name="TextBox 13"/>
          <p:cNvSpPr txBox="1"/>
          <p:nvPr/>
        </p:nvSpPr>
        <p:spPr>
          <a:xfrm>
            <a:off x="548640" y="2414016"/>
            <a:ext cx="3474720" cy="219456"/>
          </a:xfrm>
          <a:prstGeom prst="rect">
            <a:avLst/>
          </a:prstGeom>
          <a:noFill/>
        </p:spPr>
        <p:txBody>
          <a:bodyPr wrap="square">
            <a:spAutoFit/>
          </a:bodyPr>
          <a:lstStyle/>
          <a:p>
            <a:pPr algn="l"/>
            <a:r>
              <a:rPr sz="850" b="0" i="0">
                <a:solidFill>
                  <a:srgbClr val="666666"/>
                </a:solidFill>
                <a:latin typeface="Calibri"/>
              </a:rPr>
              <a:t>on recipes where all 4 panelists agreed</a:t>
            </a:r>
          </a:p>
        </p:txBody>
      </p:sp>
      <p:sp>
        <p:nvSpPr>
          <p:cNvPr id="15" name="TextBox 14"/>
          <p:cNvSpPr txBox="1"/>
          <p:nvPr/>
        </p:nvSpPr>
        <p:spPr>
          <a:xfrm>
            <a:off x="548640" y="2670048"/>
            <a:ext cx="3474720" cy="786384"/>
          </a:xfrm>
          <a:prstGeom prst="rect">
            <a:avLst/>
          </a:prstGeom>
          <a:noFill/>
        </p:spPr>
        <p:txBody>
          <a:bodyPr wrap="square">
            <a:spAutoFit/>
          </a:bodyPr>
          <a:lstStyle/>
          <a:p>
            <a:pPr algn="l"/>
            <a:r>
              <a:rPr sz="900" b="0" i="0">
                <a:solidFill>
                  <a:srgbClr val="666666"/>
                </a:solidFill>
                <a:latin typeface="Calibri"/>
              </a:rPr>
              <a:t>Transparent and auditable. Every decision can be traced back to a specific flavorist rule. Rules are maintained directly by the flavor team and take effect immediately.</a:t>
            </a:r>
          </a:p>
          <a:p/>
          <a:p>
            <a:r>
              <a:rPr sz="750" i="1">
                <a:solidFill>
                  <a:srgbClr val="888888"/>
                </a:solidFill>
              </a:rPr>
              <a:t>"If it smells strongly of caramel and jam → it's Warm."</a:t>
            </a:r>
          </a:p>
        </p:txBody>
      </p:sp>
      <p:sp>
        <p:nvSpPr>
          <p:cNvPr id="16" name="Rectangle 15"/>
          <p:cNvSpPr/>
          <p:nvPr/>
        </p:nvSpPr>
        <p:spPr>
          <a:xfrm>
            <a:off x="4343400" y="1389888"/>
            <a:ext cx="3749039" cy="212140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43400" y="1389888"/>
            <a:ext cx="3749039" cy="347472"/>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80560" y="1453896"/>
            <a:ext cx="3474720" cy="261610"/>
          </a:xfrm>
          <a:prstGeom prst="rect">
            <a:avLst/>
          </a:prstGeom>
          <a:noFill/>
        </p:spPr>
        <p:txBody>
          <a:bodyPr wrap="square" lIns="91440" tIns="45720" rIns="91440" bIns="45720" anchor="t">
            <a:spAutoFit/>
          </a:bodyPr>
          <a:lstStyle/>
          <a:p>
            <a:pPr algn="l"/>
            <a:r>
              <a:rPr b="1" sz="1100">
                <a:solidFill>
                  <a:srgbClr val="FFFFFF"/>
                </a:solidFill>
              </a:rPr>
              <a:t>Statistical - Similarity-Based Classification</a:t>
            </a:r>
          </a:p>
        </p:txBody>
      </p:sp>
      <p:sp>
        <p:nvSpPr>
          <p:cNvPr id="19" name="TextBox 18"/>
          <p:cNvSpPr txBox="1"/>
          <p:nvPr/>
        </p:nvSpPr>
        <p:spPr>
          <a:xfrm>
            <a:off x="4480560" y="1792224"/>
            <a:ext cx="1371600" cy="658368"/>
          </a:xfrm>
          <a:prstGeom prst="rect">
            <a:avLst/>
          </a:prstGeom>
          <a:noFill/>
        </p:spPr>
        <p:txBody>
          <a:bodyPr wrap="square">
            <a:spAutoFit/>
          </a:bodyPr>
          <a:lstStyle/>
          <a:p>
            <a:pPr algn="l"/>
            <a:r>
              <a:rPr sz="3200" b="1" i="0">
                <a:solidFill>
                  <a:srgbClr val="17A589"/>
                </a:solidFill>
                <a:latin typeface="Calibri"/>
              </a:rPr>
              <a:t>90%</a:t>
            </a:r>
          </a:p>
        </p:txBody>
      </p:sp>
      <p:sp>
        <p:nvSpPr>
          <p:cNvPr id="20" name="TextBox 19"/>
          <p:cNvSpPr txBox="1"/>
          <p:nvPr/>
        </p:nvSpPr>
        <p:spPr>
          <a:xfrm>
            <a:off x="4480560" y="2414016"/>
            <a:ext cx="3474720" cy="219456"/>
          </a:xfrm>
          <a:prstGeom prst="rect">
            <a:avLst/>
          </a:prstGeom>
          <a:noFill/>
        </p:spPr>
        <p:txBody>
          <a:bodyPr wrap="square">
            <a:spAutoFit/>
          </a:bodyPr>
          <a:lstStyle/>
          <a:p>
            <a:pPr algn="l"/>
            <a:r>
              <a:rPr sz="850" b="0" i="0">
                <a:solidFill>
                  <a:srgbClr val="666666"/>
                </a:solidFill>
                <a:latin typeface="Calibri"/>
              </a:rPr>
              <a:t>on recipes where all 4 panelists agreed</a:t>
            </a:r>
          </a:p>
        </p:txBody>
      </p:sp>
      <p:sp>
        <p:nvSpPr>
          <p:cNvPr id="21" name="TextBox 20"/>
          <p:cNvSpPr txBox="1"/>
          <p:nvPr/>
        </p:nvSpPr>
        <p:spPr>
          <a:xfrm>
            <a:off x="4480560" y="2670048"/>
            <a:ext cx="3474720" cy="786384"/>
          </a:xfrm>
          <a:prstGeom prst="rect">
            <a:avLst/>
          </a:prstGeom>
          <a:noFill/>
        </p:spPr>
        <p:txBody>
          <a:bodyPr wrap="square">
            <a:spAutoFit/>
          </a:bodyPr>
          <a:lstStyle/>
          <a:p>
            <a:pPr algn="l"/>
            <a:r>
              <a:rPr b="0" sz="900">
                <a:solidFill>
                  <a:srgbClr val="666666"/>
                </a:solidFill>
              </a:rPr>
              <a:t>Flavorist-confirmed recipes anchor the system. Every other recipe is classified by how similar it is to those anchors, making it well-suited for borderline cases.</a:t>
            </a:r>
          </a:p>
          <a:p/>
          <a:p>
            <a:r>
              <a:rPr sz="750" i="1">
                <a:solidFill>
                  <a:srgbClr val="888888"/>
                </a:solidFill>
              </a:rPr>
              <a:t>"This new recipe looks most like the ones we already know are Green."</a:t>
            </a:r>
          </a:p>
        </p:txBody>
      </p:sp>
      <p:sp>
        <p:nvSpPr>
          <p:cNvPr id="22" name="Rectangle 21"/>
          <p:cNvSpPr/>
          <p:nvPr/>
        </p:nvSpPr>
        <p:spPr>
          <a:xfrm>
            <a:off x="8275319" y="1389888"/>
            <a:ext cx="3749039" cy="2121408"/>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275319" y="1389888"/>
            <a:ext cx="3749039" cy="3474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79" y="1453896"/>
            <a:ext cx="3474720" cy="261610"/>
          </a:xfrm>
          <a:prstGeom prst="rect">
            <a:avLst/>
          </a:prstGeom>
          <a:noFill/>
        </p:spPr>
        <p:txBody>
          <a:bodyPr wrap="square" lIns="91440" tIns="45720" rIns="91440" bIns="45720" anchor="t">
            <a:spAutoFit/>
          </a:bodyPr>
          <a:lstStyle/>
          <a:p>
            <a:pPr algn="l"/>
            <a:r>
              <a:rPr sz="1100" b="1" i="0" dirty="0">
                <a:solidFill>
                  <a:srgbClr val="FFFFFF"/>
                </a:solidFill>
                <a:latin typeface="Calibri"/>
              </a:rPr>
              <a:t>Expert Scoring </a:t>
            </a:r>
            <a:r>
              <a:rPr lang="de-DE" sz="1100" b="1">
                <a:solidFill>
                  <a:srgbClr val="FFFFFF"/>
                </a:solidFill>
                <a:latin typeface="Calibri"/>
              </a:rPr>
              <a:t>-</a:t>
            </a:r>
            <a:r>
              <a:rPr sz="1100" b="1" i="0" dirty="0">
                <a:solidFill>
                  <a:srgbClr val="FFFFFF"/>
                </a:solidFill>
                <a:latin typeface="Calibri"/>
              </a:rPr>
              <a:t> Calibration Ongoing</a:t>
            </a:r>
          </a:p>
        </p:txBody>
      </p:sp>
      <p:sp>
        <p:nvSpPr>
          <p:cNvPr id="25" name="TextBox 24"/>
          <p:cNvSpPr txBox="1"/>
          <p:nvPr/>
        </p:nvSpPr>
        <p:spPr>
          <a:xfrm>
            <a:off x="8412479" y="1792224"/>
            <a:ext cx="2286000" cy="457200"/>
          </a:xfrm>
          <a:prstGeom prst="rect">
            <a:avLst/>
          </a:prstGeom>
          <a:noFill/>
        </p:spPr>
        <p:txBody>
          <a:bodyPr wrap="square">
            <a:spAutoFit/>
          </a:bodyPr>
          <a:lstStyle/>
          <a:p>
            <a:pPr algn="l"/>
            <a:r>
              <a:rPr sz="2000" b="1" i="0">
                <a:solidFill>
                  <a:srgbClr val="E67E22"/>
                </a:solidFill>
                <a:latin typeface="Calibri"/>
              </a:rPr>
              <a:t>In Progress</a:t>
            </a:r>
          </a:p>
        </p:txBody>
      </p:sp>
      <p:sp>
        <p:nvSpPr>
          <p:cNvPr id="26" name="TextBox 25"/>
          <p:cNvSpPr txBox="1"/>
          <p:nvPr/>
        </p:nvSpPr>
        <p:spPr>
          <a:xfrm>
            <a:off x="8412479" y="2286000"/>
            <a:ext cx="3474720" cy="1170432"/>
          </a:xfrm>
          <a:prstGeom prst="rect">
            <a:avLst/>
          </a:prstGeom>
          <a:noFill/>
        </p:spPr>
        <p:txBody>
          <a:bodyPr wrap="square">
            <a:spAutoFit/>
          </a:bodyPr>
          <a:lstStyle/>
          <a:p>
            <a:pPr algn="l"/>
            <a:r>
              <a:rPr sz="900" b="0" i="0">
                <a:solidFill>
                  <a:srgbClr val="666666"/>
                </a:solidFill>
                <a:latin typeface="Calibri"/>
              </a:rPr>
              <a:t>A continuous weighted scoring system assigns each recipe a profile across all 7 archetypes, revealing degree of membership rather than a binary label. Active calibration of ingredient weights is underway with flavor experts.</a:t>
            </a:r>
          </a:p>
          <a:p/>
          <a:p>
            <a:r>
              <a:rPr sz="750" i="1">
                <a:solidFill>
                  <a:srgbClr val="888888"/>
                </a:solidFill>
              </a:rPr>
              <a:t>"This recipe is 80% Warm, 15% Green, 5% Floral." If a single label is needed, we simply pick the highest score — Warm in this case.</a:t>
            </a:r>
          </a:p>
        </p:txBody>
      </p:sp>
      <p:sp>
        <p:nvSpPr>
          <p:cNvPr id="27" name="Rectangle 26"/>
          <p:cNvSpPr/>
          <p:nvPr/>
        </p:nvSpPr>
        <p:spPr>
          <a:xfrm>
            <a:off x="411480" y="3675887"/>
            <a:ext cx="11338560" cy="914400"/>
          </a:xfrm>
          <a:prstGeom prst="rect">
            <a:avLst/>
          </a:prstGeom>
          <a:solidFill>
            <a:srgbClr val="F4F6F9"/>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11480" y="3675887"/>
            <a:ext cx="41148" cy="9144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3721608"/>
            <a:ext cx="2743200" cy="219456"/>
          </a:xfrm>
          <a:prstGeom prst="rect">
            <a:avLst/>
          </a:prstGeom>
          <a:noFill/>
        </p:spPr>
        <p:txBody>
          <a:bodyPr wrap="square">
            <a:spAutoFit/>
          </a:bodyPr>
          <a:lstStyle/>
          <a:p>
            <a:pPr algn="l"/>
            <a:r>
              <a:rPr sz="800" b="1" i="0">
                <a:solidFill>
                  <a:srgbClr val="1B3A5C"/>
                </a:solidFill>
                <a:latin typeface="Calibri"/>
              </a:rPr>
              <a:t>NOTE ON ACCURACY SCORES</a:t>
            </a:r>
          </a:p>
        </p:txBody>
      </p:sp>
      <p:sp>
        <p:nvSpPr>
          <p:cNvPr id="30" name="TextBox 29"/>
          <p:cNvSpPr txBox="1"/>
          <p:nvPr/>
        </p:nvSpPr>
        <p:spPr>
          <a:xfrm>
            <a:off x="594360" y="3959352"/>
            <a:ext cx="11064240" cy="566928"/>
          </a:xfrm>
          <a:prstGeom prst="rect">
            <a:avLst/>
          </a:prstGeom>
          <a:noFill/>
        </p:spPr>
        <p:txBody>
          <a:bodyPr wrap="square">
            <a:spAutoFit/>
          </a:bodyPr>
          <a:lstStyle/>
          <a:p>
            <a:pPr algn="l"/>
            <a:r>
              <a:rPr sz="1000" b="0" i="0">
                <a:solidFill>
                  <a:srgbClr val="2C3E50"/>
                </a:solidFill>
                <a:latin typeface="Calibri"/>
              </a:rPr>
              <a:t>The 90% accuracy figures above reflect the subset of tasted recipes where all four panelists agreed on the correct archetype. A second group of recipes produced split verdicts among panelists, meaning no single ground truth could be established. Classification accuracy on this contested group is currently lower, and increasing it is an active focus. We are working with flavorists on additional tasting sessions to resolve the ambiguous cases and expand the reliable evaluation set.</a:t>
            </a:r>
          </a:p>
        </p:txBody>
      </p:sp>
      <p:sp>
        <p:nvSpPr>
          <p:cNvPr id="31" name="Rectangle 30"/>
          <p:cNvSpPr/>
          <p:nvPr/>
        </p:nvSpPr>
        <p:spPr>
          <a:xfrm>
            <a:off x="411480" y="4736592"/>
            <a:ext cx="11338560" cy="10972"/>
          </a:xfrm>
          <a:prstGeom prst="rect">
            <a:avLst/>
          </a:prstGeom>
          <a:solidFill>
            <a:srgbClr val="D5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4828032"/>
            <a:ext cx="3657600" cy="237744"/>
          </a:xfrm>
          <a:prstGeom prst="rect">
            <a:avLst/>
          </a:prstGeom>
          <a:noFill/>
        </p:spPr>
        <p:txBody>
          <a:bodyPr wrap="square">
            <a:spAutoFit/>
          </a:bodyPr>
          <a:lstStyle/>
          <a:p>
            <a:pPr algn="l"/>
            <a:r>
              <a:rPr sz="800" b="1" i="0">
                <a:solidFill>
                  <a:srgbClr val="1B3A5C"/>
                </a:solidFill>
                <a:latin typeface="Calibri"/>
              </a:rPr>
              <a:t>NEXT STEPS</a:t>
            </a:r>
          </a:p>
        </p:txBody>
      </p:sp>
      <p:sp>
        <p:nvSpPr>
          <p:cNvPr id="33" name="Rectangle 32"/>
          <p:cNvSpPr/>
          <p:nvPr/>
        </p:nvSpPr>
        <p:spPr>
          <a:xfrm>
            <a:off x="411480" y="5065776"/>
            <a:ext cx="5623560" cy="960120"/>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11480" y="5065776"/>
            <a:ext cx="41148"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39496" y="5138928"/>
            <a:ext cx="5349240" cy="256032"/>
          </a:xfrm>
          <a:prstGeom prst="rect">
            <a:avLst/>
          </a:prstGeom>
          <a:noFill/>
        </p:spPr>
        <p:txBody>
          <a:bodyPr wrap="square">
            <a:spAutoFit/>
          </a:bodyPr>
          <a:lstStyle/>
          <a:p>
            <a:pPr algn="l"/>
            <a:r>
              <a:rPr b="1" sz="1100">
                <a:solidFill>
                  <a:srgbClr val="2C3E50"/>
                </a:solidFill>
              </a:rPr>
              <a:t>1.  Fine-tune the scoring system</a:t>
            </a:r>
          </a:p>
        </p:txBody>
      </p:sp>
      <p:sp>
        <p:nvSpPr>
          <p:cNvPr id="36" name="TextBox 35"/>
          <p:cNvSpPr txBox="1"/>
          <p:nvPr/>
        </p:nvSpPr>
        <p:spPr>
          <a:xfrm>
            <a:off x="539496" y="5413248"/>
            <a:ext cx="5349240" cy="566928"/>
          </a:xfrm>
          <a:prstGeom prst="rect">
            <a:avLst/>
          </a:prstGeom>
          <a:noFill/>
        </p:spPr>
        <p:txBody>
          <a:bodyPr wrap="square">
            <a:spAutoFit/>
          </a:bodyPr>
          <a:lstStyle/>
          <a:p>
            <a:pPr algn="l"/>
            <a:r>
              <a:rPr b="0" sz="950">
                <a:solidFill>
                  <a:srgbClr val="666666"/>
                </a:solidFill>
              </a:rPr>
              <a:t>Align ingredient weights with flavorist expertise and fill in missing signature compounds.</a:t>
            </a:r>
          </a:p>
        </p:txBody>
      </p:sp>
      <p:sp>
        <p:nvSpPr>
          <p:cNvPr id="37" name="Rectangle 36"/>
          <p:cNvSpPr/>
          <p:nvPr/>
        </p:nvSpPr>
        <p:spPr>
          <a:xfrm>
            <a:off x="6309360" y="5065776"/>
            <a:ext cx="5623560" cy="960120"/>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309360" y="5065776"/>
            <a:ext cx="41148" cy="960120"/>
          </a:xfrm>
          <a:prstGeom prst="rect">
            <a:avLst/>
          </a:prstGeom>
          <a:solidFill>
            <a:srgbClr val="17A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37376" y="5138928"/>
            <a:ext cx="5349240" cy="256032"/>
          </a:xfrm>
          <a:prstGeom prst="rect">
            <a:avLst/>
          </a:prstGeom>
          <a:noFill/>
        </p:spPr>
        <p:txBody>
          <a:bodyPr wrap="square">
            <a:spAutoFit/>
          </a:bodyPr>
          <a:lstStyle/>
          <a:p>
            <a:pPr algn="l"/>
            <a:r>
              <a:rPr b="1" sz="1100">
                <a:solidFill>
                  <a:srgbClr val="2C3E50"/>
                </a:solidFill>
              </a:rPr>
              <a:t>2.  Define the key ingredients per flavor type</a:t>
            </a:r>
          </a:p>
        </p:txBody>
      </p:sp>
      <p:sp>
        <p:nvSpPr>
          <p:cNvPr id="40" name="TextBox 39"/>
          <p:cNvSpPr txBox="1"/>
          <p:nvPr/>
        </p:nvSpPr>
        <p:spPr>
          <a:xfrm>
            <a:off x="6437376" y="5413248"/>
            <a:ext cx="5349240" cy="566928"/>
          </a:xfrm>
          <a:prstGeom prst="rect">
            <a:avLst/>
          </a:prstGeom>
          <a:noFill/>
        </p:spPr>
        <p:txBody>
          <a:bodyPr wrap="square">
            <a:spAutoFit/>
          </a:bodyPr>
          <a:lstStyle/>
          <a:p>
            <a:pPr algn="l"/>
            <a:r>
              <a:rPr b="0" sz="950">
                <a:solidFill>
                  <a:srgbClr val="666666"/>
                </a:solidFill>
              </a:rPr>
              <a:t>Lock in the top characteristic ingredients for each flavor type, ready to use in new formulations.</a:t>
            </a:r>
          </a:p>
        </p:txBody>
      </p:sp>
      <p:sp>
        <p:nvSpPr>
          <p:cNvPr id="41" name="Rectangle 40"/>
          <p:cNvSpPr/>
          <p:nvPr/>
        </p:nvSpPr>
        <p:spPr>
          <a:xfrm>
            <a:off x="424657" y="6182819"/>
            <a:ext cx="5630148" cy="591199"/>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04892" y="6169643"/>
            <a:ext cx="34559" cy="584611"/>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39496" y="6236208"/>
            <a:ext cx="5349240" cy="256032"/>
          </a:xfrm>
          <a:prstGeom prst="rect">
            <a:avLst/>
          </a:prstGeom>
          <a:noFill/>
        </p:spPr>
        <p:txBody>
          <a:bodyPr wrap="square">
            <a:spAutoFit/>
          </a:bodyPr>
          <a:lstStyle/>
          <a:p>
            <a:pPr algn="l"/>
            <a:r>
              <a:rPr b="1" sz="1100">
                <a:solidFill>
                  <a:srgbClr val="2C3E50"/>
                </a:solidFill>
              </a:rPr>
              <a:t>3.  Build the first working prototype</a:t>
            </a:r>
          </a:p>
        </p:txBody>
      </p:sp>
      <p:sp>
        <p:nvSpPr>
          <p:cNvPr id="44" name="TextBox 43"/>
          <p:cNvSpPr txBox="1"/>
          <p:nvPr/>
        </p:nvSpPr>
        <p:spPr>
          <a:xfrm>
            <a:off x="539496" y="6510528"/>
            <a:ext cx="5349240" cy="566928"/>
          </a:xfrm>
          <a:prstGeom prst="rect">
            <a:avLst/>
          </a:prstGeom>
          <a:noFill/>
        </p:spPr>
        <p:txBody>
          <a:bodyPr wrap="square">
            <a:spAutoFit/>
          </a:bodyPr>
          <a:lstStyle/>
          <a:p>
            <a:pPr algn="l"/>
            <a:r>
              <a:rPr sz="950" b="0" i="0">
                <a:solidFill>
                  <a:srgbClr val="666666"/>
                </a:solidFill>
                <a:latin typeface="Calibri"/>
              </a:rPr>
              <a:t>Brief in, skeleton formulation out. First complete TAIsty prototype, validated by the flavor team.</a:t>
            </a:r>
          </a:p>
        </p:txBody>
      </p:sp>
      <p:sp>
        <p:nvSpPr>
          <p:cNvPr id="45" name="Rectangle 44"/>
          <p:cNvSpPr/>
          <p:nvPr/>
        </p:nvSpPr>
        <p:spPr>
          <a:xfrm>
            <a:off x="6322537" y="6202583"/>
            <a:ext cx="5590618" cy="571435"/>
          </a:xfrm>
          <a:prstGeom prst="rect">
            <a:avLst/>
          </a:prstGeom>
          <a:solidFill>
            <a:srgbClr val="F7F8FA"/>
          </a:solidFill>
          <a:ln w="6350">
            <a:solidFill>
              <a:srgbClr val="D5D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302772" y="6176231"/>
            <a:ext cx="34559" cy="584611"/>
          </a:xfrm>
          <a:prstGeom prst="rect">
            <a:avLst/>
          </a:prstGeom>
          <a:solidFill>
            <a:srgbClr val="7D3C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37376" y="6236208"/>
            <a:ext cx="5349240" cy="256032"/>
          </a:xfrm>
          <a:prstGeom prst="rect">
            <a:avLst/>
          </a:prstGeom>
          <a:noFill/>
        </p:spPr>
        <p:txBody>
          <a:bodyPr wrap="square">
            <a:spAutoFit/>
          </a:bodyPr>
          <a:lstStyle/>
          <a:p>
            <a:pPr algn="l"/>
            <a:r>
              <a:rPr sz="1100" b="1" i="0">
                <a:solidFill>
                  <a:srgbClr val="2C3E50"/>
                </a:solidFill>
                <a:latin typeface="Calibri"/>
              </a:rPr>
              <a:t>4.  Scale to Further Fruits</a:t>
            </a:r>
          </a:p>
        </p:txBody>
      </p:sp>
      <p:sp>
        <p:nvSpPr>
          <p:cNvPr id="48" name="TextBox 47"/>
          <p:cNvSpPr txBox="1"/>
          <p:nvPr/>
        </p:nvSpPr>
        <p:spPr>
          <a:xfrm>
            <a:off x="6437376" y="6510528"/>
            <a:ext cx="5349240" cy="238527"/>
          </a:xfrm>
          <a:prstGeom prst="rect">
            <a:avLst/>
          </a:prstGeom>
          <a:noFill/>
        </p:spPr>
        <p:txBody>
          <a:bodyPr wrap="square" lIns="91440" tIns="45720" rIns="91440" bIns="45720" anchor="t">
            <a:spAutoFit/>
          </a:bodyPr>
          <a:lstStyle/>
          <a:p>
            <a:r>
              <a:rPr sz="950" b="0" i="0" dirty="0">
                <a:solidFill>
                  <a:srgbClr val="666666"/>
                </a:solidFill>
                <a:latin typeface="Calibri"/>
              </a:rPr>
              <a:t>Cherry and </a:t>
            </a:r>
            <a:r>
              <a:rPr lang="de-DE" sz="950" dirty="0" err="1">
                <a:solidFill>
                  <a:srgbClr val="666666"/>
                </a:solidFill>
                <a:latin typeface="Calibri"/>
              </a:rPr>
              <a:t>other</a:t>
            </a:r>
            <a:r>
              <a:rPr lang="de-DE" sz="950" dirty="0">
                <a:solidFill>
                  <a:srgbClr val="666666"/>
                </a:solidFill>
                <a:latin typeface="Calibri"/>
              </a:rPr>
              <a:t> </a:t>
            </a:r>
            <a:r>
              <a:rPr lang="de-DE" sz="950" dirty="0" err="1">
                <a:solidFill>
                  <a:srgbClr val="666666"/>
                </a:solidFill>
                <a:latin typeface="Calibri"/>
              </a:rPr>
              <a:t>fruits</a:t>
            </a:r>
            <a:r>
              <a:rPr sz="950" b="0" i="0" dirty="0">
                <a:solidFill>
                  <a:srgbClr val="666666"/>
                </a:solidFill>
                <a:latin typeface="Calibri"/>
              </a:rPr>
              <a:t> follow once the strawberry pilot is validated.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Benutzerdefiniert</PresentationFormat>
  <Paragraphs>0</Paragraphs>
  <Slides>5</Slides>
  <Notes>0</Notes>
  <HiddenSlides>0</HiddenSlides>
  <MMClips>0</MMClips>
  <ScaleCrop>false</ScaleCrop>
  <HeadingPairs>
    <vt:vector size="4" baseType="variant">
      <vt:variant>
        <vt:lpstr>Design</vt:lpstr>
      </vt:variant>
      <vt:variant>
        <vt:i4>1</vt:i4>
      </vt:variant>
      <vt:variant>
        <vt:lpstr>Folientitel</vt:lpstr>
      </vt:variant>
      <vt:variant>
        <vt:i4>5</vt:i4>
      </vt:variant>
    </vt:vector>
  </HeadingPairs>
  <TitlesOfParts>
    <vt:vector size="6" baseType="lpstr">
      <vt:lpstr>Office Theme</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40</cp:revision>
  <dcterms:created xsi:type="dcterms:W3CDTF">2013-01-27T09:14:16Z</dcterms:created>
  <dcterms:modified xsi:type="dcterms:W3CDTF">2026-07-22T14:38:40Z</dcterms:modified>
  <cp:category/>
</cp:coreProperties>
</file>